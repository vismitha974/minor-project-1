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9" r:id="rId5"/>
    <p:sldId id="270" r:id="rId6"/>
    <p:sldId id="259" r:id="rId7"/>
    <p:sldId id="260" r:id="rId8"/>
    <p:sldId id="261" r:id="rId9"/>
    <p:sldId id="271" r:id="rId10"/>
    <p:sldId id="272" r:id="rId11"/>
    <p:sldId id="267" r:id="rId12"/>
    <p:sldId id="273" r:id="rId13"/>
    <p:sldId id="264" r:id="rId14"/>
    <p:sldId id="268" r:id="rId15"/>
    <p:sldId id="265"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rgbClr val="0D0D0D"/>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D0D0D"/>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D0D0D"/>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D0D0D"/>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00799"/>
            <a:ext cx="12192000" cy="457200"/>
          </a:xfrm>
          <a:custGeom>
            <a:avLst/>
            <a:gdLst/>
            <a:ahLst/>
            <a:cxnLst/>
            <a:rect l="l" t="t" r="r" b="b"/>
            <a:pathLst>
              <a:path w="12192000" h="457200">
                <a:moveTo>
                  <a:pt x="12192000" y="0"/>
                </a:moveTo>
                <a:lnTo>
                  <a:pt x="0" y="0"/>
                </a:lnTo>
                <a:lnTo>
                  <a:pt x="0" y="457199"/>
                </a:lnTo>
                <a:lnTo>
                  <a:pt x="12192000" y="457199"/>
                </a:lnTo>
                <a:lnTo>
                  <a:pt x="12192000" y="0"/>
                </a:lnTo>
                <a:close/>
              </a:path>
            </a:pathLst>
          </a:custGeom>
          <a:solidFill>
            <a:srgbClr val="BC572C"/>
          </a:solidFill>
        </p:spPr>
        <p:txBody>
          <a:bodyPr wrap="square" lIns="0" tIns="0" rIns="0" bIns="0" rtlCol="0"/>
          <a:lstStyle/>
          <a:p>
            <a:endParaRPr/>
          </a:p>
        </p:txBody>
      </p:sp>
      <p:sp>
        <p:nvSpPr>
          <p:cNvPr id="17" name="bg object 17"/>
          <p:cNvSpPr/>
          <p:nvPr/>
        </p:nvSpPr>
        <p:spPr>
          <a:xfrm>
            <a:off x="0" y="6334319"/>
            <a:ext cx="12192000" cy="66040"/>
          </a:xfrm>
          <a:custGeom>
            <a:avLst/>
            <a:gdLst/>
            <a:ahLst/>
            <a:cxnLst/>
            <a:rect l="l" t="t" r="r" b="b"/>
            <a:pathLst>
              <a:path w="12192000" h="66039">
                <a:moveTo>
                  <a:pt x="12192000" y="0"/>
                </a:moveTo>
                <a:lnTo>
                  <a:pt x="0" y="0"/>
                </a:lnTo>
                <a:lnTo>
                  <a:pt x="0" y="65998"/>
                </a:lnTo>
                <a:lnTo>
                  <a:pt x="12192000" y="65998"/>
                </a:lnTo>
                <a:lnTo>
                  <a:pt x="12192000" y="0"/>
                </a:lnTo>
                <a:close/>
              </a:path>
            </a:pathLst>
          </a:custGeom>
          <a:solidFill>
            <a:srgbClr val="E38312"/>
          </a:solidFill>
        </p:spPr>
        <p:txBody>
          <a:bodyPr wrap="square" lIns="0" tIns="0" rIns="0" bIns="0" rtlCol="0"/>
          <a:lstStyle/>
          <a:p>
            <a:endParaRPr/>
          </a:p>
        </p:txBody>
      </p:sp>
      <p:sp>
        <p:nvSpPr>
          <p:cNvPr id="18" name="bg object 18"/>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sp>
        <p:nvSpPr>
          <p:cNvPr id="2" name="Holder 2"/>
          <p:cNvSpPr>
            <a:spLocks noGrp="1"/>
          </p:cNvSpPr>
          <p:nvPr>
            <p:ph type="title"/>
          </p:nvPr>
        </p:nvSpPr>
        <p:spPr>
          <a:xfrm>
            <a:off x="1176324" y="908684"/>
            <a:ext cx="9839350" cy="756919"/>
          </a:xfrm>
          <a:prstGeom prst="rect">
            <a:avLst/>
          </a:prstGeom>
        </p:spPr>
        <p:txBody>
          <a:bodyPr wrap="square" lIns="0" tIns="0" rIns="0" bIns="0">
            <a:spAutoFit/>
          </a:bodyPr>
          <a:lstStyle>
            <a:lvl1pPr>
              <a:defRPr sz="4400" b="0" i="0">
                <a:solidFill>
                  <a:srgbClr val="0D0D0D"/>
                </a:solidFill>
                <a:latin typeface="Calibri Light"/>
                <a:cs typeface="Calibri Light"/>
              </a:defRPr>
            </a:lvl1pPr>
          </a:lstStyle>
          <a:p>
            <a:endParaRPr/>
          </a:p>
        </p:txBody>
      </p:sp>
      <p:sp>
        <p:nvSpPr>
          <p:cNvPr id="3" name="Holder 3"/>
          <p:cNvSpPr>
            <a:spLocks noGrp="1"/>
          </p:cNvSpPr>
          <p:nvPr>
            <p:ph type="body" idx="1"/>
          </p:nvPr>
        </p:nvSpPr>
        <p:spPr>
          <a:xfrm>
            <a:off x="1084580" y="1831975"/>
            <a:ext cx="8683625" cy="2972435"/>
          </a:xfrm>
          <a:prstGeom prst="rect">
            <a:avLst/>
          </a:prstGeom>
        </p:spPr>
        <p:txBody>
          <a:bodyPr wrap="square" lIns="0" tIns="0" rIns="0" bIns="0">
            <a:spAutoFit/>
          </a:bodyPr>
          <a:lstStyle>
            <a:lvl1pPr>
              <a:defRPr sz="20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arduino.cc/"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334319"/>
            <a:ext cx="12192000" cy="523875"/>
            <a:chOff x="0" y="6334319"/>
            <a:chExt cx="12192000" cy="523875"/>
          </a:xfrm>
        </p:grpSpPr>
        <p:sp>
          <p:nvSpPr>
            <p:cNvPr id="3" name="object 3"/>
            <p:cNvSpPr/>
            <p:nvPr/>
          </p:nvSpPr>
          <p:spPr>
            <a:xfrm>
              <a:off x="0" y="6400799"/>
              <a:ext cx="12192000" cy="457200"/>
            </a:xfrm>
            <a:custGeom>
              <a:avLst/>
              <a:gdLst/>
              <a:ahLst/>
              <a:cxnLst/>
              <a:rect l="l" t="t" r="r" b="b"/>
              <a:pathLst>
                <a:path w="12192000" h="457200">
                  <a:moveTo>
                    <a:pt x="12192000" y="0"/>
                  </a:moveTo>
                  <a:lnTo>
                    <a:pt x="0" y="0"/>
                  </a:lnTo>
                  <a:lnTo>
                    <a:pt x="0" y="457199"/>
                  </a:lnTo>
                  <a:lnTo>
                    <a:pt x="12192000" y="457199"/>
                  </a:lnTo>
                  <a:lnTo>
                    <a:pt x="12192000" y="0"/>
                  </a:lnTo>
                  <a:close/>
                </a:path>
              </a:pathLst>
            </a:custGeom>
            <a:solidFill>
              <a:srgbClr val="BC572C"/>
            </a:solidFill>
          </p:spPr>
          <p:txBody>
            <a:bodyPr wrap="square" lIns="0" tIns="0" rIns="0" bIns="0" rtlCol="0"/>
            <a:lstStyle/>
            <a:p>
              <a:endParaRPr/>
            </a:p>
          </p:txBody>
        </p:sp>
        <p:sp>
          <p:nvSpPr>
            <p:cNvPr id="4" name="object 4"/>
            <p:cNvSpPr/>
            <p:nvPr/>
          </p:nvSpPr>
          <p:spPr>
            <a:xfrm>
              <a:off x="0" y="6334319"/>
              <a:ext cx="12192000" cy="66040"/>
            </a:xfrm>
            <a:custGeom>
              <a:avLst/>
              <a:gdLst/>
              <a:ahLst/>
              <a:cxnLst/>
              <a:rect l="l" t="t" r="r" b="b"/>
              <a:pathLst>
                <a:path w="12192000" h="66039">
                  <a:moveTo>
                    <a:pt x="12192000" y="0"/>
                  </a:moveTo>
                  <a:lnTo>
                    <a:pt x="0" y="0"/>
                  </a:lnTo>
                  <a:lnTo>
                    <a:pt x="0" y="65998"/>
                  </a:lnTo>
                  <a:lnTo>
                    <a:pt x="12192000" y="65998"/>
                  </a:lnTo>
                  <a:lnTo>
                    <a:pt x="12192000" y="0"/>
                  </a:lnTo>
                  <a:close/>
                </a:path>
              </a:pathLst>
            </a:custGeom>
            <a:solidFill>
              <a:srgbClr val="E38312"/>
            </a:solidFill>
          </p:spPr>
          <p:txBody>
            <a:bodyPr wrap="square" lIns="0" tIns="0" rIns="0" bIns="0" rtlCol="0"/>
            <a:lstStyle/>
            <a:p>
              <a:endParaRPr/>
            </a:p>
          </p:txBody>
        </p:sp>
      </p:grpSp>
      <p:grpSp>
        <p:nvGrpSpPr>
          <p:cNvPr id="5" name="object 5"/>
          <p:cNvGrpSpPr/>
          <p:nvPr/>
        </p:nvGrpSpPr>
        <p:grpSpPr>
          <a:xfrm>
            <a:off x="0" y="0"/>
            <a:ext cx="12192000" cy="6858000"/>
            <a:chOff x="0" y="0"/>
            <a:chExt cx="12192000" cy="6858000"/>
          </a:xfrm>
        </p:grpSpPr>
        <p:sp>
          <p:nvSpPr>
            <p:cNvPr id="6" name="object 6"/>
            <p:cNvSpPr/>
            <p:nvPr/>
          </p:nvSpPr>
          <p:spPr>
            <a:xfrm>
              <a:off x="1193533" y="1737867"/>
              <a:ext cx="9967595" cy="0"/>
            </a:xfrm>
            <a:custGeom>
              <a:avLst/>
              <a:gdLst/>
              <a:ahLst/>
              <a:cxnLst/>
              <a:rect l="l" t="t" r="r" b="b"/>
              <a:pathLst>
                <a:path w="9967595">
                  <a:moveTo>
                    <a:pt x="0" y="0"/>
                  </a:moveTo>
                  <a:lnTo>
                    <a:pt x="9966972" y="0"/>
                  </a:lnTo>
                </a:path>
              </a:pathLst>
            </a:custGeom>
            <a:ln w="6350">
              <a:solidFill>
                <a:srgbClr val="7E7E7E"/>
              </a:solidFill>
            </a:ln>
          </p:spPr>
          <p:txBody>
            <a:bodyPr wrap="square" lIns="0" tIns="0" rIns="0" bIns="0" rtlCol="0"/>
            <a:lstStyle/>
            <a:p>
              <a:endParaRPr/>
            </a:p>
          </p:txBody>
        </p:sp>
        <p:pic>
          <p:nvPicPr>
            <p:cNvPr id="7" name="object 7"/>
            <p:cNvPicPr/>
            <p:nvPr/>
          </p:nvPicPr>
          <p:blipFill>
            <a:blip r:embed="rId2" cstate="print"/>
            <a:stretch>
              <a:fillRect/>
            </a:stretch>
          </p:blipFill>
          <p:spPr>
            <a:xfrm>
              <a:off x="0" y="0"/>
              <a:ext cx="12191999" cy="6857998"/>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4" y="6334315"/>
            <a:ext cx="12192000" cy="523875"/>
            <a:chOff x="14" y="6334315"/>
            <a:chExt cx="12192000" cy="523875"/>
          </a:xfrm>
        </p:grpSpPr>
        <p:sp>
          <p:nvSpPr>
            <p:cNvPr id="3" name="object 3"/>
            <p:cNvSpPr/>
            <p:nvPr/>
          </p:nvSpPr>
          <p:spPr>
            <a:xfrm>
              <a:off x="3175" y="6400799"/>
              <a:ext cx="12188825" cy="457200"/>
            </a:xfrm>
            <a:custGeom>
              <a:avLst/>
              <a:gdLst/>
              <a:ahLst/>
              <a:cxnLst/>
              <a:rect l="l" t="t" r="r" b="b"/>
              <a:pathLst>
                <a:path w="12188825" h="457200">
                  <a:moveTo>
                    <a:pt x="12188825" y="0"/>
                  </a:moveTo>
                  <a:lnTo>
                    <a:pt x="0" y="0"/>
                  </a:lnTo>
                  <a:lnTo>
                    <a:pt x="0" y="457199"/>
                  </a:lnTo>
                  <a:lnTo>
                    <a:pt x="12188825" y="457199"/>
                  </a:lnTo>
                  <a:lnTo>
                    <a:pt x="12188825" y="0"/>
                  </a:lnTo>
                  <a:close/>
                </a:path>
              </a:pathLst>
            </a:custGeom>
            <a:solidFill>
              <a:srgbClr val="BC572C"/>
            </a:solidFill>
          </p:spPr>
          <p:txBody>
            <a:bodyPr wrap="square" lIns="0" tIns="0" rIns="0" bIns="0" rtlCol="0"/>
            <a:lstStyle/>
            <a:p>
              <a:endParaRPr/>
            </a:p>
          </p:txBody>
        </p:sp>
        <p:sp>
          <p:nvSpPr>
            <p:cNvPr id="4" name="object 4"/>
            <p:cNvSpPr/>
            <p:nvPr/>
          </p:nvSpPr>
          <p:spPr>
            <a:xfrm>
              <a:off x="14" y="6334315"/>
              <a:ext cx="12188825" cy="64135"/>
            </a:xfrm>
            <a:custGeom>
              <a:avLst/>
              <a:gdLst/>
              <a:ahLst/>
              <a:cxnLst/>
              <a:rect l="l" t="t" r="r" b="b"/>
              <a:pathLst>
                <a:path w="12188825" h="64135">
                  <a:moveTo>
                    <a:pt x="12188825" y="0"/>
                  </a:moveTo>
                  <a:lnTo>
                    <a:pt x="0" y="0"/>
                  </a:lnTo>
                  <a:lnTo>
                    <a:pt x="0" y="64008"/>
                  </a:lnTo>
                  <a:lnTo>
                    <a:pt x="12188825" y="64008"/>
                  </a:lnTo>
                  <a:lnTo>
                    <a:pt x="12188825" y="0"/>
                  </a:lnTo>
                  <a:close/>
                </a:path>
              </a:pathLst>
            </a:custGeom>
            <a:solidFill>
              <a:srgbClr val="E38312"/>
            </a:solidFill>
          </p:spPr>
          <p:txBody>
            <a:bodyPr wrap="square" lIns="0" tIns="0" rIns="0" bIns="0" rtlCol="0"/>
            <a:lstStyle/>
            <a:p>
              <a:endParaRPr/>
            </a:p>
          </p:txBody>
        </p:sp>
      </p:grpSp>
      <p:sp>
        <p:nvSpPr>
          <p:cNvPr id="5" name="object 5"/>
          <p:cNvSpPr/>
          <p:nvPr/>
        </p:nvSpPr>
        <p:spPr>
          <a:xfrm>
            <a:off x="1207655" y="4343400"/>
            <a:ext cx="9875520" cy="0"/>
          </a:xfrm>
          <a:custGeom>
            <a:avLst/>
            <a:gdLst/>
            <a:ahLst/>
            <a:cxnLst/>
            <a:rect l="l" t="t" r="r" b="b"/>
            <a:pathLst>
              <a:path w="9875520">
                <a:moveTo>
                  <a:pt x="0" y="0"/>
                </a:moveTo>
                <a:lnTo>
                  <a:pt x="9875507" y="0"/>
                </a:lnTo>
              </a:path>
            </a:pathLst>
          </a:custGeom>
          <a:ln w="6350">
            <a:solidFill>
              <a:srgbClr val="7E7E7E"/>
            </a:solidFill>
          </a:ln>
        </p:spPr>
        <p:txBody>
          <a:bodyPr wrap="square" lIns="0" tIns="0" rIns="0" bIns="0" rtlCol="0"/>
          <a:lstStyle/>
          <a:p>
            <a:endParaRPr/>
          </a:p>
        </p:txBody>
      </p:sp>
      <p:sp>
        <p:nvSpPr>
          <p:cNvPr id="6" name="object 6"/>
          <p:cNvSpPr txBox="1"/>
          <p:nvPr/>
        </p:nvSpPr>
        <p:spPr>
          <a:xfrm>
            <a:off x="1597533" y="1297889"/>
            <a:ext cx="9790430" cy="2948305"/>
          </a:xfrm>
          <a:prstGeom prst="rect">
            <a:avLst/>
          </a:prstGeom>
        </p:spPr>
        <p:txBody>
          <a:bodyPr vert="horz" wrap="square" lIns="0" tIns="136525" rIns="0" bIns="0" rtlCol="0">
            <a:spAutoFit/>
          </a:bodyPr>
          <a:lstStyle/>
          <a:p>
            <a:pPr marL="12700" marR="5080">
              <a:lnSpc>
                <a:spcPct val="85000"/>
              </a:lnSpc>
              <a:spcBef>
                <a:spcPts val="1075"/>
              </a:spcBef>
            </a:pPr>
            <a:r>
              <a:rPr sz="5400" u="sng" spc="-30" dirty="0">
                <a:solidFill>
                  <a:srgbClr val="252525"/>
                </a:solidFill>
                <a:uFill>
                  <a:solidFill>
                    <a:srgbClr val="252525"/>
                  </a:solidFill>
                </a:uFill>
                <a:latin typeface="Calibri Light"/>
                <a:cs typeface="Calibri Light"/>
              </a:rPr>
              <a:t>VOICE</a:t>
            </a:r>
            <a:r>
              <a:rPr sz="5400" u="sng" spc="-225" dirty="0">
                <a:solidFill>
                  <a:srgbClr val="252525"/>
                </a:solidFill>
                <a:uFill>
                  <a:solidFill>
                    <a:srgbClr val="252525"/>
                  </a:solidFill>
                </a:uFill>
                <a:latin typeface="Calibri Light"/>
                <a:cs typeface="Calibri Light"/>
              </a:rPr>
              <a:t> </a:t>
            </a:r>
            <a:r>
              <a:rPr sz="5400" u="sng" spc="-125" dirty="0">
                <a:solidFill>
                  <a:srgbClr val="252525"/>
                </a:solidFill>
                <a:uFill>
                  <a:solidFill>
                    <a:srgbClr val="252525"/>
                  </a:solidFill>
                </a:uFill>
                <a:latin typeface="Calibri Light"/>
                <a:cs typeface="Calibri Light"/>
              </a:rPr>
              <a:t>ACTIVATED</a:t>
            </a:r>
            <a:r>
              <a:rPr sz="5400" u="sng" spc="-180" dirty="0">
                <a:solidFill>
                  <a:srgbClr val="252525"/>
                </a:solidFill>
                <a:uFill>
                  <a:solidFill>
                    <a:srgbClr val="252525"/>
                  </a:solidFill>
                </a:uFill>
                <a:latin typeface="Calibri Light"/>
                <a:cs typeface="Calibri Light"/>
              </a:rPr>
              <a:t> </a:t>
            </a:r>
            <a:r>
              <a:rPr sz="5400" u="sng" spc="-20" dirty="0">
                <a:solidFill>
                  <a:srgbClr val="252525"/>
                </a:solidFill>
                <a:uFill>
                  <a:solidFill>
                    <a:srgbClr val="252525"/>
                  </a:solidFill>
                </a:uFill>
                <a:latin typeface="Calibri Light"/>
                <a:cs typeface="Calibri Light"/>
              </a:rPr>
              <a:t>HOME</a:t>
            </a:r>
            <a:r>
              <a:rPr sz="5400" spc="-20" dirty="0">
                <a:solidFill>
                  <a:srgbClr val="252525"/>
                </a:solidFill>
                <a:latin typeface="Calibri Light"/>
                <a:cs typeface="Calibri Light"/>
              </a:rPr>
              <a:t> </a:t>
            </a:r>
            <a:r>
              <a:rPr sz="5400" u="sng" spc="-135" dirty="0">
                <a:solidFill>
                  <a:srgbClr val="252525"/>
                </a:solidFill>
                <a:uFill>
                  <a:solidFill>
                    <a:srgbClr val="252525"/>
                  </a:solidFill>
                </a:uFill>
                <a:latin typeface="Calibri Light"/>
                <a:cs typeface="Calibri Light"/>
              </a:rPr>
              <a:t>AUTOMATION</a:t>
            </a:r>
            <a:r>
              <a:rPr sz="5400" u="sng" spc="-175" dirty="0">
                <a:solidFill>
                  <a:srgbClr val="252525"/>
                </a:solidFill>
                <a:uFill>
                  <a:solidFill>
                    <a:srgbClr val="252525"/>
                  </a:solidFill>
                </a:uFill>
                <a:latin typeface="Calibri Light"/>
                <a:cs typeface="Calibri Light"/>
              </a:rPr>
              <a:t> </a:t>
            </a:r>
            <a:r>
              <a:rPr sz="5400" u="sng" spc="-50" dirty="0">
                <a:solidFill>
                  <a:srgbClr val="252525"/>
                </a:solidFill>
                <a:uFill>
                  <a:solidFill>
                    <a:srgbClr val="252525"/>
                  </a:solidFill>
                </a:uFill>
                <a:latin typeface="Calibri Light"/>
                <a:cs typeface="Calibri Light"/>
              </a:rPr>
              <a:t>SYSTEM</a:t>
            </a:r>
            <a:r>
              <a:rPr sz="5400" u="sng" spc="-254" dirty="0">
                <a:solidFill>
                  <a:srgbClr val="252525"/>
                </a:solidFill>
                <a:uFill>
                  <a:solidFill>
                    <a:srgbClr val="252525"/>
                  </a:solidFill>
                </a:uFill>
                <a:latin typeface="Calibri Light"/>
                <a:cs typeface="Calibri Light"/>
              </a:rPr>
              <a:t> </a:t>
            </a:r>
            <a:r>
              <a:rPr sz="5400" u="sng" spc="-20" dirty="0">
                <a:solidFill>
                  <a:srgbClr val="252525"/>
                </a:solidFill>
                <a:uFill>
                  <a:solidFill>
                    <a:srgbClr val="252525"/>
                  </a:solidFill>
                </a:uFill>
                <a:latin typeface="Calibri Light"/>
                <a:cs typeface="Calibri Light"/>
              </a:rPr>
              <a:t>FOR</a:t>
            </a:r>
            <a:r>
              <a:rPr sz="5400" u="sng" spc="-204" dirty="0">
                <a:solidFill>
                  <a:srgbClr val="252525"/>
                </a:solidFill>
                <a:uFill>
                  <a:solidFill>
                    <a:srgbClr val="252525"/>
                  </a:solidFill>
                </a:uFill>
                <a:latin typeface="Calibri Light"/>
                <a:cs typeface="Calibri Light"/>
              </a:rPr>
              <a:t> </a:t>
            </a:r>
            <a:r>
              <a:rPr sz="5400" u="sng" spc="-45" dirty="0">
                <a:solidFill>
                  <a:srgbClr val="252525"/>
                </a:solidFill>
                <a:uFill>
                  <a:solidFill>
                    <a:srgbClr val="252525"/>
                  </a:solidFill>
                </a:uFill>
                <a:latin typeface="Calibri Light"/>
                <a:cs typeface="Calibri Light"/>
              </a:rPr>
              <a:t>ELDERLY</a:t>
            </a:r>
            <a:r>
              <a:rPr sz="5400" spc="-45" dirty="0">
                <a:solidFill>
                  <a:srgbClr val="252525"/>
                </a:solidFill>
                <a:latin typeface="Calibri Light"/>
                <a:cs typeface="Calibri Light"/>
              </a:rPr>
              <a:t> </a:t>
            </a:r>
            <a:r>
              <a:rPr sz="5400" u="sng" dirty="0">
                <a:solidFill>
                  <a:srgbClr val="252525"/>
                </a:solidFill>
                <a:uFill>
                  <a:solidFill>
                    <a:srgbClr val="252525"/>
                  </a:solidFill>
                </a:uFill>
                <a:latin typeface="Calibri Light"/>
                <a:cs typeface="Calibri Light"/>
              </a:rPr>
              <a:t>AND</a:t>
            </a:r>
            <a:r>
              <a:rPr sz="5400" u="sng" spc="-170" dirty="0">
                <a:solidFill>
                  <a:srgbClr val="252525"/>
                </a:solidFill>
                <a:uFill>
                  <a:solidFill>
                    <a:srgbClr val="252525"/>
                  </a:solidFill>
                </a:uFill>
                <a:latin typeface="Calibri Light"/>
                <a:cs typeface="Calibri Light"/>
              </a:rPr>
              <a:t> </a:t>
            </a:r>
            <a:r>
              <a:rPr sz="5400" u="sng" spc="-100" dirty="0">
                <a:solidFill>
                  <a:srgbClr val="252525"/>
                </a:solidFill>
                <a:uFill>
                  <a:solidFill>
                    <a:srgbClr val="252525"/>
                  </a:solidFill>
                </a:uFill>
                <a:latin typeface="Calibri Light"/>
                <a:cs typeface="Calibri Light"/>
              </a:rPr>
              <a:t>PHYSICALLY</a:t>
            </a:r>
            <a:r>
              <a:rPr sz="5400" u="sng" spc="-190" dirty="0">
                <a:solidFill>
                  <a:srgbClr val="252525"/>
                </a:solidFill>
                <a:uFill>
                  <a:solidFill>
                    <a:srgbClr val="252525"/>
                  </a:solidFill>
                </a:uFill>
                <a:latin typeface="Calibri Light"/>
                <a:cs typeface="Calibri Light"/>
              </a:rPr>
              <a:t> </a:t>
            </a:r>
            <a:r>
              <a:rPr sz="5400" u="sng" spc="-10" dirty="0">
                <a:solidFill>
                  <a:srgbClr val="252525"/>
                </a:solidFill>
                <a:uFill>
                  <a:solidFill>
                    <a:srgbClr val="252525"/>
                  </a:solidFill>
                </a:uFill>
                <a:latin typeface="Calibri Light"/>
                <a:cs typeface="Calibri Light"/>
              </a:rPr>
              <a:t>CHALENGED</a:t>
            </a:r>
            <a:r>
              <a:rPr sz="5400" spc="-10" dirty="0">
                <a:solidFill>
                  <a:srgbClr val="252525"/>
                </a:solidFill>
                <a:latin typeface="Calibri Light"/>
                <a:cs typeface="Calibri Light"/>
              </a:rPr>
              <a:t> </a:t>
            </a:r>
            <a:r>
              <a:rPr sz="5400" u="sng" spc="-10" dirty="0">
                <a:solidFill>
                  <a:srgbClr val="252525"/>
                </a:solidFill>
                <a:uFill>
                  <a:solidFill>
                    <a:srgbClr val="252525"/>
                  </a:solidFill>
                </a:uFill>
                <a:latin typeface="Calibri Light"/>
                <a:cs typeface="Calibri Light"/>
              </a:rPr>
              <a:t>INDIVIDUALS.</a:t>
            </a:r>
            <a:endParaRPr sz="5400">
              <a:latin typeface="Calibri Light"/>
              <a:cs typeface="Calibri Light"/>
            </a:endParaRPr>
          </a:p>
        </p:txBody>
      </p:sp>
      <p:sp>
        <p:nvSpPr>
          <p:cNvPr id="7" name="object 7"/>
          <p:cNvSpPr txBox="1"/>
          <p:nvPr/>
        </p:nvSpPr>
        <p:spPr>
          <a:xfrm>
            <a:off x="1179067" y="4433061"/>
            <a:ext cx="100330" cy="391160"/>
          </a:xfrm>
          <a:prstGeom prst="rect">
            <a:avLst/>
          </a:prstGeom>
        </p:spPr>
        <p:txBody>
          <a:bodyPr vert="horz" wrap="square" lIns="0" tIns="12700" rIns="0" bIns="0" rtlCol="0">
            <a:spAutoFit/>
          </a:bodyPr>
          <a:lstStyle/>
          <a:p>
            <a:pPr marL="12700">
              <a:lnSpc>
                <a:spcPct val="100000"/>
              </a:lnSpc>
              <a:spcBef>
                <a:spcPts val="100"/>
              </a:spcBef>
            </a:pPr>
            <a:r>
              <a:rPr sz="2400" spc="-50" dirty="0">
                <a:solidFill>
                  <a:srgbClr val="626F52"/>
                </a:solidFill>
                <a:latin typeface="Calibri Light"/>
                <a:cs typeface="Calibri Light"/>
              </a:rPr>
              <a:t>.</a:t>
            </a:r>
            <a:endParaRPr sz="2400">
              <a:latin typeface="Calibri Light"/>
              <a:cs typeface="Calibri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5400" y="838200"/>
            <a:ext cx="1998345" cy="696595"/>
          </a:xfrm>
          <a:prstGeom prst="rect">
            <a:avLst/>
          </a:prstGeom>
        </p:spPr>
        <p:txBody>
          <a:bodyPr vert="horz" wrap="square" lIns="0" tIns="13335" rIns="0" bIns="0" rtlCol="0">
            <a:spAutoFit/>
          </a:bodyPr>
          <a:lstStyle/>
          <a:p>
            <a:pPr marL="12700">
              <a:lnSpc>
                <a:spcPct val="100000"/>
              </a:lnSpc>
              <a:spcBef>
                <a:spcPts val="105"/>
              </a:spcBef>
            </a:pPr>
            <a:r>
              <a:rPr spc="-60" dirty="0"/>
              <a:t>Contents</a:t>
            </a:r>
          </a:p>
        </p:txBody>
      </p:sp>
      <p:sp>
        <p:nvSpPr>
          <p:cNvPr id="3" name="object 3"/>
          <p:cNvSpPr txBox="1"/>
          <p:nvPr/>
        </p:nvSpPr>
        <p:spPr>
          <a:xfrm>
            <a:off x="762000" y="1676400"/>
            <a:ext cx="10668000" cy="5379037"/>
          </a:xfrm>
          <a:prstGeom prst="rect">
            <a:avLst/>
          </a:prstGeom>
        </p:spPr>
        <p:txBody>
          <a:bodyPr vert="horz" wrap="square" lIns="0" tIns="12700" rIns="0" bIns="0" rtlCol="0">
            <a:spAutoFit/>
          </a:bodyPr>
          <a:lstStyle/>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Problem statement </a:t>
            </a:r>
          </a:p>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Motivation</a:t>
            </a:r>
          </a:p>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Introduction</a:t>
            </a:r>
          </a:p>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Objective</a:t>
            </a:r>
          </a:p>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Components used</a:t>
            </a:r>
          </a:p>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Circuit design</a:t>
            </a:r>
          </a:p>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Working</a:t>
            </a:r>
          </a:p>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Result</a:t>
            </a:r>
          </a:p>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Conclusion</a:t>
            </a:r>
          </a:p>
          <a:p>
            <a:pPr marL="298450" marR="295910" indent="-285750" algn="just">
              <a:lnSpc>
                <a:spcPct val="150000"/>
              </a:lnSpc>
              <a:spcBef>
                <a:spcPts val="305"/>
              </a:spcBef>
              <a:buFont typeface="Arial" panose="020B0604020202020204" pitchFamily="34" charset="0"/>
              <a:buChar char="•"/>
            </a:pPr>
            <a:r>
              <a:rPr lang="en-US" dirty="0">
                <a:latin typeface="Calibri"/>
                <a:cs typeface="Calibri"/>
              </a:rPr>
              <a:t>References</a:t>
            </a:r>
          </a:p>
          <a:p>
            <a:pPr marL="298450" marR="295910" indent="-285750" algn="just">
              <a:lnSpc>
                <a:spcPct val="150000"/>
              </a:lnSpc>
              <a:spcBef>
                <a:spcPts val="305"/>
              </a:spcBef>
              <a:buFont typeface="Arial" panose="020B0604020202020204" pitchFamily="34" charset="0"/>
              <a:buChar char="•"/>
            </a:pPr>
            <a:endParaRPr lang="en-US" dirty="0">
              <a:latin typeface="Calibri"/>
              <a:cs typeface="Calibri"/>
            </a:endParaRPr>
          </a:p>
          <a:p>
            <a:pPr marL="12700" marR="295910" algn="just">
              <a:lnSpc>
                <a:spcPct val="150000"/>
              </a:lnSpc>
              <a:spcBef>
                <a:spcPts val="305"/>
              </a:spcBef>
            </a:pPr>
            <a:endParaRPr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41372-4623-FDE5-91D0-BBEEA04950A4}"/>
              </a:ext>
            </a:extLst>
          </p:cNvPr>
          <p:cNvSpPr>
            <a:spLocks noGrp="1"/>
          </p:cNvSpPr>
          <p:nvPr>
            <p:ph type="title"/>
          </p:nvPr>
        </p:nvSpPr>
        <p:spPr>
          <a:xfrm>
            <a:off x="1176324" y="908684"/>
            <a:ext cx="12325622" cy="677108"/>
          </a:xfrm>
        </p:spPr>
        <p:txBody>
          <a:bodyPr/>
          <a:lstStyle/>
          <a:p>
            <a:r>
              <a:rPr lang="en-US" dirty="0"/>
              <a:t>Problem Statement</a:t>
            </a:r>
            <a:endParaRPr lang="en-IN" dirty="0"/>
          </a:p>
        </p:txBody>
      </p:sp>
      <p:sp>
        <p:nvSpPr>
          <p:cNvPr id="4" name="Rectangle 1">
            <a:extLst>
              <a:ext uri="{FF2B5EF4-FFF2-40B4-BE49-F238E27FC236}">
                <a16:creationId xmlns:a16="http://schemas.microsoft.com/office/drawing/2014/main" id="{2CD6D1EB-DA67-4D25-0130-8142629EA7E1}"/>
              </a:ext>
            </a:extLst>
          </p:cNvPr>
          <p:cNvSpPr>
            <a:spLocks noGrp="1" noChangeArrowheads="1"/>
          </p:cNvSpPr>
          <p:nvPr>
            <p:ph type="body" idx="1"/>
          </p:nvPr>
        </p:nvSpPr>
        <p:spPr bwMode="auto">
          <a:xfrm>
            <a:off x="762000" y="1746488"/>
            <a:ext cx="11031220"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Elderly and disabled individuals often struggle with daily tasks due to physical and cognitive limitations.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home automation systems are challenging for them due to complex interfaces and the need for precise commands. Tasks like turning on lights, adjusting thermostats, or operating appliances can be frustrating.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challenge is further complicated by the need for reliable internet connections and the steep learning curve of new technologies. Voice-activated home automation systems offer a solution by providing intuitive, hands-free control. However, to truly benefit these users, these systems must prioritize accessibility and ease of use.</a:t>
            </a:r>
          </a:p>
        </p:txBody>
      </p:sp>
    </p:spTree>
    <p:extLst>
      <p:ext uri="{BB962C8B-B14F-4D97-AF65-F5344CB8AC3E}">
        <p14:creationId xmlns:p14="http://schemas.microsoft.com/office/powerpoint/2010/main" val="1502392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61AA-F92A-BF7B-A607-0CEA072B5FD7}"/>
              </a:ext>
            </a:extLst>
          </p:cNvPr>
          <p:cNvSpPr>
            <a:spLocks noGrp="1"/>
          </p:cNvSpPr>
          <p:nvPr>
            <p:ph type="title"/>
          </p:nvPr>
        </p:nvSpPr>
        <p:spPr>
          <a:xfrm>
            <a:off x="1176324" y="908684"/>
            <a:ext cx="9839350" cy="677108"/>
          </a:xfrm>
        </p:spPr>
        <p:txBody>
          <a:bodyPr/>
          <a:lstStyle/>
          <a:p>
            <a:r>
              <a:rPr lang="en-US" dirty="0"/>
              <a:t>Motivation</a:t>
            </a:r>
            <a:endParaRPr lang="en-IN" dirty="0"/>
          </a:p>
        </p:txBody>
      </p:sp>
      <p:sp>
        <p:nvSpPr>
          <p:cNvPr id="3" name="Text Placeholder 2">
            <a:extLst>
              <a:ext uri="{FF2B5EF4-FFF2-40B4-BE49-F238E27FC236}">
                <a16:creationId xmlns:a16="http://schemas.microsoft.com/office/drawing/2014/main" id="{997C973C-EC36-65C3-780B-C9D8DF71A32D}"/>
              </a:ext>
            </a:extLst>
          </p:cNvPr>
          <p:cNvSpPr>
            <a:spLocks noGrp="1"/>
          </p:cNvSpPr>
          <p:nvPr>
            <p:ph type="body" idx="1"/>
          </p:nvPr>
        </p:nvSpPr>
        <p:spPr>
          <a:xfrm>
            <a:off x="1176324" y="2057400"/>
            <a:ext cx="8683625" cy="2260619"/>
          </a:xfrm>
        </p:spPr>
        <p:txBody>
          <a:bodyPr/>
          <a:lstStyle/>
          <a:p>
            <a:pPr marL="342900" indent="-342900">
              <a:lnSpc>
                <a:spcPct val="150000"/>
              </a:lnSpc>
              <a:buFont typeface="Arial" panose="020B0604020202020204" pitchFamily="34" charset="0"/>
              <a:buChar char="•"/>
            </a:pPr>
            <a:r>
              <a:rPr lang="en-US" b="0" dirty="0"/>
              <a:t>As the global population ages and the number of individuals with physical disabilities increases, there is a growing need for solutions that promote independent living and enhance the quality of life for elderly and physically challenged people. Many of these individuals face physical or cognitive challenges that make daily tasks difficult. </a:t>
            </a:r>
            <a:endParaRPr lang="en-IN" b="0" dirty="0"/>
          </a:p>
        </p:txBody>
      </p:sp>
    </p:spTree>
    <p:extLst>
      <p:ext uri="{BB962C8B-B14F-4D97-AF65-F5344CB8AC3E}">
        <p14:creationId xmlns:p14="http://schemas.microsoft.com/office/powerpoint/2010/main" val="2126637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7978" rIns="0" bIns="0" rtlCol="0">
            <a:spAutoFit/>
          </a:bodyPr>
          <a:lstStyle/>
          <a:p>
            <a:pPr marL="12700">
              <a:lnSpc>
                <a:spcPct val="100000"/>
              </a:lnSpc>
              <a:spcBef>
                <a:spcPts val="105"/>
              </a:spcBef>
            </a:pPr>
            <a:r>
              <a:rPr spc="-55" dirty="0"/>
              <a:t>Introduction</a:t>
            </a:r>
          </a:p>
        </p:txBody>
      </p:sp>
      <p:sp>
        <p:nvSpPr>
          <p:cNvPr id="3" name="object 3"/>
          <p:cNvSpPr txBox="1"/>
          <p:nvPr/>
        </p:nvSpPr>
        <p:spPr>
          <a:xfrm>
            <a:off x="1084580" y="1681099"/>
            <a:ext cx="10067290" cy="2377959"/>
          </a:xfrm>
          <a:prstGeom prst="rect">
            <a:avLst/>
          </a:prstGeom>
        </p:spPr>
        <p:txBody>
          <a:bodyPr vert="horz" wrap="square" lIns="0" tIns="154305" rIns="0" bIns="0" rtlCol="0">
            <a:spAutoFit/>
          </a:bodyPr>
          <a:lstStyle/>
          <a:p>
            <a:pPr marL="119380" indent="-114300">
              <a:lnSpc>
                <a:spcPct val="150000"/>
              </a:lnSpc>
              <a:spcBef>
                <a:spcPts val="1215"/>
              </a:spcBef>
              <a:buClr>
                <a:srgbClr val="E38312"/>
              </a:buClr>
              <a:buSzPct val="95833"/>
              <a:buFont typeface="Arial MT"/>
              <a:buChar char="•"/>
              <a:tabLst>
                <a:tab pos="119380" algn="l"/>
              </a:tabLst>
            </a:pPr>
            <a:r>
              <a:rPr sz="2000" b="1" spc="-10" dirty="0">
                <a:latin typeface="Calibri"/>
                <a:cs typeface="Calibri"/>
              </a:rPr>
              <a:t>Convenience</a:t>
            </a:r>
            <a:r>
              <a:rPr sz="2000" spc="-10" dirty="0">
                <a:latin typeface="Calibri"/>
                <a:cs typeface="Calibri"/>
              </a:rPr>
              <a:t>:</a:t>
            </a:r>
            <a:r>
              <a:rPr sz="2000" spc="-60" dirty="0">
                <a:latin typeface="Calibri"/>
                <a:cs typeface="Calibri"/>
              </a:rPr>
              <a:t> </a:t>
            </a:r>
            <a:r>
              <a:rPr sz="2000" dirty="0">
                <a:latin typeface="Calibri"/>
                <a:cs typeface="Calibri"/>
              </a:rPr>
              <a:t>Control</a:t>
            </a:r>
            <a:r>
              <a:rPr sz="2000" spc="-65" dirty="0">
                <a:latin typeface="Calibri"/>
                <a:cs typeface="Calibri"/>
              </a:rPr>
              <a:t> </a:t>
            </a:r>
            <a:r>
              <a:rPr sz="2000" dirty="0">
                <a:latin typeface="Calibri"/>
                <a:cs typeface="Calibri"/>
              </a:rPr>
              <a:t>home</a:t>
            </a:r>
            <a:r>
              <a:rPr sz="2000" spc="-65" dirty="0">
                <a:latin typeface="Calibri"/>
                <a:cs typeface="Calibri"/>
              </a:rPr>
              <a:t> </a:t>
            </a:r>
            <a:r>
              <a:rPr sz="2000" dirty="0">
                <a:latin typeface="Calibri"/>
                <a:cs typeface="Calibri"/>
              </a:rPr>
              <a:t>lights</a:t>
            </a:r>
            <a:r>
              <a:rPr sz="2000" spc="-50" dirty="0">
                <a:latin typeface="Calibri"/>
                <a:cs typeface="Calibri"/>
              </a:rPr>
              <a:t> </a:t>
            </a:r>
            <a:r>
              <a:rPr sz="2000" dirty="0">
                <a:latin typeface="Calibri"/>
                <a:cs typeface="Calibri"/>
              </a:rPr>
              <a:t>and</a:t>
            </a:r>
            <a:r>
              <a:rPr sz="2000" spc="-45" dirty="0">
                <a:latin typeface="Calibri"/>
                <a:cs typeface="Calibri"/>
              </a:rPr>
              <a:t> </a:t>
            </a:r>
            <a:r>
              <a:rPr sz="2000" spc="-10" dirty="0">
                <a:latin typeface="Calibri"/>
                <a:cs typeface="Calibri"/>
              </a:rPr>
              <a:t>temperature</a:t>
            </a:r>
            <a:r>
              <a:rPr sz="2000" spc="-75" dirty="0">
                <a:latin typeface="Calibri"/>
                <a:cs typeface="Calibri"/>
              </a:rPr>
              <a:t> </a:t>
            </a:r>
            <a:r>
              <a:rPr sz="2000" dirty="0">
                <a:latin typeface="Calibri"/>
                <a:cs typeface="Calibri"/>
              </a:rPr>
              <a:t>using</a:t>
            </a:r>
            <a:r>
              <a:rPr sz="2000" spc="-55" dirty="0">
                <a:latin typeface="Calibri"/>
                <a:cs typeface="Calibri"/>
              </a:rPr>
              <a:t> </a:t>
            </a:r>
            <a:r>
              <a:rPr sz="2000" dirty="0">
                <a:latin typeface="Calibri"/>
                <a:cs typeface="Calibri"/>
              </a:rPr>
              <a:t>voice</a:t>
            </a:r>
            <a:r>
              <a:rPr sz="2000" spc="-50" dirty="0">
                <a:latin typeface="Calibri"/>
                <a:cs typeface="Calibri"/>
              </a:rPr>
              <a:t> </a:t>
            </a:r>
            <a:r>
              <a:rPr sz="2000" spc="-10" dirty="0">
                <a:latin typeface="Calibri"/>
                <a:cs typeface="Calibri"/>
              </a:rPr>
              <a:t>commands.</a:t>
            </a:r>
            <a:endParaRPr sz="2000" dirty="0">
              <a:latin typeface="Calibri"/>
              <a:cs typeface="Calibri"/>
            </a:endParaRPr>
          </a:p>
          <a:p>
            <a:pPr marL="119380" indent="-114300">
              <a:lnSpc>
                <a:spcPct val="150000"/>
              </a:lnSpc>
              <a:spcBef>
                <a:spcPts val="1115"/>
              </a:spcBef>
              <a:buClr>
                <a:srgbClr val="E38312"/>
              </a:buClr>
              <a:buSzPct val="95833"/>
              <a:buFont typeface="Arial MT"/>
              <a:buChar char="•"/>
              <a:tabLst>
                <a:tab pos="119380" algn="l"/>
              </a:tabLst>
            </a:pPr>
            <a:r>
              <a:rPr sz="2000" b="1" spc="-10" dirty="0">
                <a:latin typeface="Calibri"/>
                <a:cs typeface="Calibri"/>
              </a:rPr>
              <a:t>Revolutionary</a:t>
            </a:r>
            <a:r>
              <a:rPr sz="2000" b="1" spc="-35" dirty="0">
                <a:latin typeface="Calibri"/>
                <a:cs typeface="Calibri"/>
              </a:rPr>
              <a:t> </a:t>
            </a:r>
            <a:r>
              <a:rPr sz="2000" b="1" spc="-20" dirty="0">
                <a:latin typeface="Calibri"/>
                <a:cs typeface="Calibri"/>
              </a:rPr>
              <a:t>Technology</a:t>
            </a:r>
            <a:r>
              <a:rPr sz="2000" spc="-20" dirty="0">
                <a:latin typeface="Calibri"/>
                <a:cs typeface="Calibri"/>
              </a:rPr>
              <a:t>:</a:t>
            </a:r>
            <a:r>
              <a:rPr sz="2000" spc="-70" dirty="0">
                <a:latin typeface="Calibri"/>
                <a:cs typeface="Calibri"/>
              </a:rPr>
              <a:t> </a:t>
            </a:r>
            <a:r>
              <a:rPr sz="2000" dirty="0">
                <a:latin typeface="Calibri"/>
                <a:cs typeface="Calibri"/>
              </a:rPr>
              <a:t>Changes</a:t>
            </a:r>
            <a:r>
              <a:rPr sz="2000" spc="-25" dirty="0">
                <a:latin typeface="Calibri"/>
                <a:cs typeface="Calibri"/>
              </a:rPr>
              <a:t> </a:t>
            </a:r>
            <a:r>
              <a:rPr sz="2000" dirty="0">
                <a:latin typeface="Calibri"/>
                <a:cs typeface="Calibri"/>
              </a:rPr>
              <a:t>how</a:t>
            </a:r>
            <a:r>
              <a:rPr sz="2000" spc="-35" dirty="0">
                <a:latin typeface="Calibri"/>
                <a:cs typeface="Calibri"/>
              </a:rPr>
              <a:t> </a:t>
            </a:r>
            <a:r>
              <a:rPr sz="2000" dirty="0">
                <a:latin typeface="Calibri"/>
                <a:cs typeface="Calibri"/>
              </a:rPr>
              <a:t>we</a:t>
            </a:r>
            <a:r>
              <a:rPr sz="2000" spc="-30" dirty="0">
                <a:latin typeface="Calibri"/>
                <a:cs typeface="Calibri"/>
              </a:rPr>
              <a:t> </a:t>
            </a:r>
            <a:r>
              <a:rPr sz="2000" spc="-10" dirty="0">
                <a:latin typeface="Calibri"/>
                <a:cs typeface="Calibri"/>
              </a:rPr>
              <a:t>interact</a:t>
            </a:r>
            <a:r>
              <a:rPr sz="2000" spc="-45" dirty="0">
                <a:latin typeface="Calibri"/>
                <a:cs typeface="Calibri"/>
              </a:rPr>
              <a:t> </a:t>
            </a:r>
            <a:r>
              <a:rPr sz="2000" dirty="0">
                <a:latin typeface="Calibri"/>
                <a:cs typeface="Calibri"/>
              </a:rPr>
              <a:t>with</a:t>
            </a:r>
            <a:r>
              <a:rPr sz="2000" spc="-35" dirty="0">
                <a:latin typeface="Calibri"/>
                <a:cs typeface="Calibri"/>
              </a:rPr>
              <a:t> </a:t>
            </a:r>
            <a:r>
              <a:rPr sz="2000" dirty="0">
                <a:latin typeface="Calibri"/>
                <a:cs typeface="Calibri"/>
              </a:rPr>
              <a:t>our</a:t>
            </a:r>
            <a:r>
              <a:rPr sz="2000" spc="-40" dirty="0">
                <a:latin typeface="Calibri"/>
                <a:cs typeface="Calibri"/>
              </a:rPr>
              <a:t> </a:t>
            </a:r>
            <a:r>
              <a:rPr sz="2000" dirty="0">
                <a:latin typeface="Calibri"/>
                <a:cs typeface="Calibri"/>
              </a:rPr>
              <a:t>living</a:t>
            </a:r>
            <a:r>
              <a:rPr sz="2000" spc="-35" dirty="0">
                <a:latin typeface="Calibri"/>
                <a:cs typeface="Calibri"/>
              </a:rPr>
              <a:t> </a:t>
            </a:r>
            <a:r>
              <a:rPr sz="2000" spc="-10" dirty="0">
                <a:latin typeface="Calibri"/>
                <a:cs typeface="Calibri"/>
              </a:rPr>
              <a:t>spaces.</a:t>
            </a:r>
            <a:endParaRPr sz="2000" dirty="0">
              <a:latin typeface="Calibri"/>
              <a:cs typeface="Calibri"/>
            </a:endParaRPr>
          </a:p>
          <a:p>
            <a:pPr marL="119380" indent="-114300">
              <a:lnSpc>
                <a:spcPct val="150000"/>
              </a:lnSpc>
              <a:spcBef>
                <a:spcPts val="1120"/>
              </a:spcBef>
              <a:buClr>
                <a:srgbClr val="E38312"/>
              </a:buClr>
              <a:buSzPct val="95833"/>
              <a:buFont typeface="Arial MT"/>
              <a:buChar char="•"/>
              <a:tabLst>
                <a:tab pos="119380" algn="l"/>
              </a:tabLst>
            </a:pPr>
            <a:r>
              <a:rPr sz="2000" b="1" dirty="0">
                <a:latin typeface="Calibri"/>
                <a:cs typeface="Calibri"/>
              </a:rPr>
              <a:t>Benefits</a:t>
            </a:r>
            <a:r>
              <a:rPr sz="2000" dirty="0">
                <a:latin typeface="Calibri"/>
                <a:cs typeface="Calibri"/>
              </a:rPr>
              <a:t>:</a:t>
            </a:r>
            <a:r>
              <a:rPr sz="2000" spc="-45" dirty="0">
                <a:latin typeface="Calibri"/>
                <a:cs typeface="Calibri"/>
              </a:rPr>
              <a:t> </a:t>
            </a:r>
            <a:r>
              <a:rPr sz="2000" dirty="0">
                <a:latin typeface="Calibri"/>
                <a:cs typeface="Calibri"/>
              </a:rPr>
              <a:t>Enhances</a:t>
            </a:r>
            <a:r>
              <a:rPr sz="2000" spc="-60" dirty="0">
                <a:latin typeface="Calibri"/>
                <a:cs typeface="Calibri"/>
              </a:rPr>
              <a:t> </a:t>
            </a:r>
            <a:r>
              <a:rPr sz="2000" dirty="0">
                <a:latin typeface="Calibri"/>
                <a:cs typeface="Calibri"/>
              </a:rPr>
              <a:t>daily</a:t>
            </a:r>
            <a:r>
              <a:rPr sz="2000" spc="-65" dirty="0">
                <a:latin typeface="Calibri"/>
                <a:cs typeface="Calibri"/>
              </a:rPr>
              <a:t> </a:t>
            </a:r>
            <a:r>
              <a:rPr sz="2000" dirty="0">
                <a:latin typeface="Calibri"/>
                <a:cs typeface="Calibri"/>
              </a:rPr>
              <a:t>life</a:t>
            </a:r>
            <a:r>
              <a:rPr sz="2000" spc="-50" dirty="0">
                <a:latin typeface="Calibri"/>
                <a:cs typeface="Calibri"/>
              </a:rPr>
              <a:t> </a:t>
            </a:r>
            <a:r>
              <a:rPr sz="2000" dirty="0">
                <a:latin typeface="Calibri"/>
                <a:cs typeface="Calibri"/>
              </a:rPr>
              <a:t>by</a:t>
            </a:r>
            <a:r>
              <a:rPr sz="2000" spc="-70" dirty="0">
                <a:latin typeface="Calibri"/>
                <a:cs typeface="Calibri"/>
              </a:rPr>
              <a:t> </a:t>
            </a:r>
            <a:r>
              <a:rPr sz="2000" dirty="0">
                <a:latin typeface="Calibri"/>
                <a:cs typeface="Calibri"/>
              </a:rPr>
              <a:t>making</a:t>
            </a:r>
            <a:r>
              <a:rPr sz="2000" spc="-65" dirty="0">
                <a:latin typeface="Calibri"/>
                <a:cs typeface="Calibri"/>
              </a:rPr>
              <a:t> </a:t>
            </a:r>
            <a:r>
              <a:rPr sz="2000" dirty="0">
                <a:latin typeface="Calibri"/>
                <a:cs typeface="Calibri"/>
              </a:rPr>
              <a:t>it</a:t>
            </a:r>
            <a:r>
              <a:rPr sz="2000" spc="-70" dirty="0">
                <a:latin typeface="Calibri"/>
                <a:cs typeface="Calibri"/>
              </a:rPr>
              <a:t> </a:t>
            </a:r>
            <a:r>
              <a:rPr sz="2000" dirty="0">
                <a:latin typeface="Calibri"/>
                <a:cs typeface="Calibri"/>
              </a:rPr>
              <a:t>more</a:t>
            </a:r>
            <a:r>
              <a:rPr sz="2000" spc="-70" dirty="0">
                <a:latin typeface="Calibri"/>
                <a:cs typeface="Calibri"/>
              </a:rPr>
              <a:t> </a:t>
            </a:r>
            <a:r>
              <a:rPr sz="2000" spc="-10" dirty="0">
                <a:latin typeface="Calibri"/>
                <a:cs typeface="Calibri"/>
              </a:rPr>
              <a:t>convenient,</a:t>
            </a:r>
            <a:r>
              <a:rPr sz="2000" spc="-45" dirty="0">
                <a:latin typeface="Calibri"/>
                <a:cs typeface="Calibri"/>
              </a:rPr>
              <a:t> </a:t>
            </a:r>
            <a:r>
              <a:rPr sz="2000" spc="-10" dirty="0">
                <a:latin typeface="Calibri"/>
                <a:cs typeface="Calibri"/>
              </a:rPr>
              <a:t>efficient,</a:t>
            </a:r>
            <a:r>
              <a:rPr sz="2000" spc="-60" dirty="0">
                <a:latin typeface="Calibri"/>
                <a:cs typeface="Calibri"/>
              </a:rPr>
              <a:t> </a:t>
            </a:r>
            <a:r>
              <a:rPr sz="2000" dirty="0">
                <a:latin typeface="Calibri"/>
                <a:cs typeface="Calibri"/>
              </a:rPr>
              <a:t>and</a:t>
            </a:r>
            <a:r>
              <a:rPr sz="2000" spc="-60" dirty="0">
                <a:latin typeface="Calibri"/>
                <a:cs typeface="Calibri"/>
              </a:rPr>
              <a:t> </a:t>
            </a:r>
            <a:r>
              <a:rPr sz="2000" spc="-10" dirty="0">
                <a:latin typeface="Calibri"/>
                <a:cs typeface="Calibri"/>
              </a:rPr>
              <a:t>secure.</a:t>
            </a:r>
            <a:endParaRPr sz="2000" dirty="0">
              <a:latin typeface="Calibri"/>
              <a:cs typeface="Calibri"/>
            </a:endParaRPr>
          </a:p>
          <a:p>
            <a:pPr marL="119380" indent="-114300">
              <a:lnSpc>
                <a:spcPct val="150000"/>
              </a:lnSpc>
              <a:spcBef>
                <a:spcPts val="1100"/>
              </a:spcBef>
              <a:buClr>
                <a:srgbClr val="E38312"/>
              </a:buClr>
              <a:buSzPct val="95833"/>
              <a:buFont typeface="Arial MT"/>
              <a:buChar char="•"/>
              <a:tabLst>
                <a:tab pos="119380" algn="l"/>
              </a:tabLst>
            </a:pPr>
            <a:r>
              <a:rPr sz="2000" b="1" spc="-10" dirty="0">
                <a:latin typeface="Calibri"/>
                <a:cs typeface="Calibri"/>
              </a:rPr>
              <a:t>Potential</a:t>
            </a:r>
            <a:r>
              <a:rPr sz="2000" spc="-10" dirty="0">
                <a:latin typeface="Calibri"/>
                <a:cs typeface="Calibri"/>
              </a:rPr>
              <a:t>:</a:t>
            </a:r>
            <a:r>
              <a:rPr sz="2000" spc="-60" dirty="0">
                <a:latin typeface="Calibri"/>
                <a:cs typeface="Calibri"/>
              </a:rPr>
              <a:t> </a:t>
            </a:r>
            <a:r>
              <a:rPr sz="2000" spc="-25" dirty="0">
                <a:latin typeface="Calibri"/>
                <a:cs typeface="Calibri"/>
              </a:rPr>
              <a:t>Transforming</a:t>
            </a:r>
            <a:r>
              <a:rPr sz="2000" spc="-70" dirty="0">
                <a:latin typeface="Calibri"/>
                <a:cs typeface="Calibri"/>
              </a:rPr>
              <a:t> </a:t>
            </a:r>
            <a:r>
              <a:rPr sz="2000" dirty="0">
                <a:latin typeface="Calibri"/>
                <a:cs typeface="Calibri"/>
              </a:rPr>
              <a:t>homes</a:t>
            </a:r>
            <a:r>
              <a:rPr sz="2000" spc="-60" dirty="0">
                <a:latin typeface="Calibri"/>
                <a:cs typeface="Calibri"/>
              </a:rPr>
              <a:t> </a:t>
            </a:r>
            <a:r>
              <a:rPr sz="2000" dirty="0">
                <a:latin typeface="Calibri"/>
                <a:cs typeface="Calibri"/>
              </a:rPr>
              <a:t>into</a:t>
            </a:r>
            <a:r>
              <a:rPr sz="2000" spc="-65" dirty="0">
                <a:latin typeface="Calibri"/>
                <a:cs typeface="Calibri"/>
              </a:rPr>
              <a:t> </a:t>
            </a:r>
            <a:r>
              <a:rPr sz="2000" spc="-10" dirty="0">
                <a:latin typeface="Calibri"/>
                <a:cs typeface="Calibri"/>
              </a:rPr>
              <a:t>intelligent,</a:t>
            </a:r>
            <a:r>
              <a:rPr sz="2000" spc="-65" dirty="0">
                <a:latin typeface="Calibri"/>
                <a:cs typeface="Calibri"/>
              </a:rPr>
              <a:t> </a:t>
            </a:r>
            <a:r>
              <a:rPr sz="2000" spc="-10" dirty="0">
                <a:latin typeface="Calibri"/>
                <a:cs typeface="Calibri"/>
              </a:rPr>
              <a:t>responsive</a:t>
            </a:r>
            <a:r>
              <a:rPr sz="2000" spc="-50" dirty="0">
                <a:latin typeface="Calibri"/>
                <a:cs typeface="Calibri"/>
              </a:rPr>
              <a:t> </a:t>
            </a:r>
            <a:r>
              <a:rPr sz="2000" spc="-10" dirty="0">
                <a:latin typeface="Calibri"/>
                <a:cs typeface="Calibri"/>
              </a:rPr>
              <a:t>environments.</a:t>
            </a:r>
            <a:endParaRPr sz="20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50" dirty="0"/>
              <a:t>Objectives</a:t>
            </a:r>
          </a:p>
        </p:txBody>
      </p:sp>
      <p:sp>
        <p:nvSpPr>
          <p:cNvPr id="3" name="object 3"/>
          <p:cNvSpPr txBox="1"/>
          <p:nvPr/>
        </p:nvSpPr>
        <p:spPr>
          <a:xfrm>
            <a:off x="1047089" y="1774316"/>
            <a:ext cx="9840595" cy="2969146"/>
          </a:xfrm>
          <a:prstGeom prst="rect">
            <a:avLst/>
          </a:prstGeom>
        </p:spPr>
        <p:txBody>
          <a:bodyPr vert="horz" wrap="square" lIns="0" tIns="53975" rIns="0" bIns="0" rtlCol="0">
            <a:spAutoFit/>
          </a:bodyPr>
          <a:lstStyle/>
          <a:p>
            <a:pPr marL="347344" marR="109220" indent="-342900">
              <a:lnSpc>
                <a:spcPct val="150000"/>
              </a:lnSpc>
              <a:spcBef>
                <a:spcPts val="425"/>
              </a:spcBef>
              <a:buClr>
                <a:srgbClr val="E38312"/>
              </a:buClr>
              <a:buSzPct val="95833"/>
              <a:buFont typeface="Arial" panose="020B0604020202020204" pitchFamily="34" charset="0"/>
              <a:buChar char="•"/>
              <a:tabLst>
                <a:tab pos="104139" algn="l"/>
                <a:tab pos="118745" algn="l"/>
              </a:tabLst>
            </a:pPr>
            <a:r>
              <a:rPr sz="2000" b="1" dirty="0">
                <a:latin typeface="Calibri"/>
                <a:cs typeface="Calibri"/>
              </a:rPr>
              <a:t>Accessibility</a:t>
            </a:r>
            <a:r>
              <a:rPr sz="2000" dirty="0">
                <a:latin typeface="Calibri"/>
                <a:cs typeface="Calibri"/>
              </a:rPr>
              <a:t>:</a:t>
            </a:r>
            <a:r>
              <a:rPr sz="2000" spc="-75" dirty="0">
                <a:latin typeface="Calibri"/>
                <a:cs typeface="Calibri"/>
              </a:rPr>
              <a:t> </a:t>
            </a:r>
            <a:r>
              <a:rPr sz="2000" dirty="0">
                <a:latin typeface="Calibri"/>
                <a:cs typeface="Calibri"/>
              </a:rPr>
              <a:t>Intuitive</a:t>
            </a:r>
            <a:r>
              <a:rPr sz="2000" spc="-65" dirty="0">
                <a:latin typeface="Calibri"/>
                <a:cs typeface="Calibri"/>
              </a:rPr>
              <a:t> </a:t>
            </a:r>
            <a:r>
              <a:rPr sz="2000" spc="-10" dirty="0">
                <a:latin typeface="Calibri"/>
                <a:cs typeface="Calibri"/>
              </a:rPr>
              <a:t>interface</a:t>
            </a:r>
            <a:r>
              <a:rPr sz="2000" spc="-65" dirty="0">
                <a:latin typeface="Calibri"/>
                <a:cs typeface="Calibri"/>
              </a:rPr>
              <a:t> </a:t>
            </a:r>
            <a:r>
              <a:rPr sz="2000" dirty="0">
                <a:latin typeface="Calibri"/>
                <a:cs typeface="Calibri"/>
              </a:rPr>
              <a:t>eliminates</a:t>
            </a:r>
            <a:r>
              <a:rPr sz="2000" spc="-80" dirty="0">
                <a:latin typeface="Calibri"/>
                <a:cs typeface="Calibri"/>
              </a:rPr>
              <a:t> </a:t>
            </a:r>
            <a:r>
              <a:rPr sz="2000" dirty="0">
                <a:latin typeface="Calibri"/>
                <a:cs typeface="Calibri"/>
              </a:rPr>
              <a:t>the</a:t>
            </a:r>
            <a:r>
              <a:rPr sz="2000" spc="-65" dirty="0">
                <a:latin typeface="Calibri"/>
                <a:cs typeface="Calibri"/>
              </a:rPr>
              <a:t> </a:t>
            </a:r>
            <a:r>
              <a:rPr sz="2000" dirty="0">
                <a:latin typeface="Calibri"/>
                <a:cs typeface="Calibri"/>
              </a:rPr>
              <a:t>need</a:t>
            </a:r>
            <a:r>
              <a:rPr sz="2000" spc="-70" dirty="0">
                <a:latin typeface="Calibri"/>
                <a:cs typeface="Calibri"/>
              </a:rPr>
              <a:t> </a:t>
            </a:r>
            <a:r>
              <a:rPr sz="2000" dirty="0">
                <a:latin typeface="Calibri"/>
                <a:cs typeface="Calibri"/>
              </a:rPr>
              <a:t>for</a:t>
            </a:r>
            <a:r>
              <a:rPr sz="2000" spc="-75" dirty="0">
                <a:latin typeface="Calibri"/>
                <a:cs typeface="Calibri"/>
              </a:rPr>
              <a:t> </a:t>
            </a:r>
            <a:r>
              <a:rPr sz="2000" spc="-10" dirty="0">
                <a:latin typeface="Calibri"/>
                <a:cs typeface="Calibri"/>
              </a:rPr>
              <a:t>physical</a:t>
            </a:r>
            <a:r>
              <a:rPr sz="2000" spc="-65" dirty="0">
                <a:latin typeface="Calibri"/>
                <a:cs typeface="Calibri"/>
              </a:rPr>
              <a:t> </a:t>
            </a:r>
            <a:r>
              <a:rPr sz="2000" spc="-10" dirty="0">
                <a:latin typeface="Calibri"/>
                <a:cs typeface="Calibri"/>
              </a:rPr>
              <a:t>interaction,</a:t>
            </a:r>
            <a:r>
              <a:rPr sz="2000" spc="-90" dirty="0">
                <a:latin typeface="Calibri"/>
                <a:cs typeface="Calibri"/>
              </a:rPr>
              <a:t> </a:t>
            </a:r>
            <a:r>
              <a:rPr sz="2000" spc="-50" dirty="0">
                <a:latin typeface="Calibri"/>
                <a:cs typeface="Calibri"/>
              </a:rPr>
              <a:t>b </a:t>
            </a:r>
            <a:r>
              <a:rPr sz="2000" dirty="0">
                <a:latin typeface="Calibri"/>
                <a:cs typeface="Calibri"/>
              </a:rPr>
              <a:t>enefiting</a:t>
            </a:r>
            <a:r>
              <a:rPr sz="2000" spc="-60" dirty="0">
                <a:latin typeface="Calibri"/>
                <a:cs typeface="Calibri"/>
              </a:rPr>
              <a:t> </a:t>
            </a:r>
            <a:r>
              <a:rPr sz="2000" dirty="0">
                <a:latin typeface="Calibri"/>
                <a:cs typeface="Calibri"/>
              </a:rPr>
              <a:t>individuals</a:t>
            </a:r>
            <a:r>
              <a:rPr sz="2000" spc="-40" dirty="0">
                <a:latin typeface="Calibri"/>
                <a:cs typeface="Calibri"/>
              </a:rPr>
              <a:t> </a:t>
            </a:r>
            <a:r>
              <a:rPr sz="2000" dirty="0">
                <a:latin typeface="Calibri"/>
                <a:cs typeface="Calibri"/>
              </a:rPr>
              <a:t>with</a:t>
            </a:r>
            <a:r>
              <a:rPr sz="2000" spc="-60" dirty="0">
                <a:latin typeface="Calibri"/>
                <a:cs typeface="Calibri"/>
              </a:rPr>
              <a:t> </a:t>
            </a:r>
            <a:r>
              <a:rPr sz="2000" dirty="0">
                <a:latin typeface="Calibri"/>
                <a:cs typeface="Calibri"/>
              </a:rPr>
              <a:t>mobility</a:t>
            </a:r>
            <a:r>
              <a:rPr sz="2000" spc="-70" dirty="0">
                <a:latin typeface="Calibri"/>
                <a:cs typeface="Calibri"/>
              </a:rPr>
              <a:t> </a:t>
            </a:r>
            <a:r>
              <a:rPr sz="2000" spc="-10" dirty="0">
                <a:latin typeface="Calibri"/>
                <a:cs typeface="Calibri"/>
              </a:rPr>
              <a:t>impairments.</a:t>
            </a:r>
            <a:endParaRPr lang="en-US" sz="2000" dirty="0">
              <a:latin typeface="Calibri"/>
              <a:cs typeface="Calibri"/>
            </a:endParaRPr>
          </a:p>
          <a:p>
            <a:pPr marL="347344" marR="109220" indent="-342900">
              <a:lnSpc>
                <a:spcPct val="150000"/>
              </a:lnSpc>
              <a:spcBef>
                <a:spcPts val="425"/>
              </a:spcBef>
              <a:buClr>
                <a:srgbClr val="E38312"/>
              </a:buClr>
              <a:buSzPct val="95833"/>
              <a:buFont typeface="Arial" panose="020B0604020202020204" pitchFamily="34" charset="0"/>
              <a:buChar char="•"/>
              <a:tabLst>
                <a:tab pos="104139" algn="l"/>
                <a:tab pos="118745" algn="l"/>
              </a:tabLst>
            </a:pPr>
            <a:r>
              <a:rPr sz="2000" b="1" spc="-10" dirty="0">
                <a:latin typeface="Calibri"/>
                <a:cs typeface="Calibri"/>
              </a:rPr>
              <a:t>Independence</a:t>
            </a:r>
            <a:r>
              <a:rPr sz="2000" spc="-10" dirty="0">
                <a:latin typeface="Calibri"/>
                <a:cs typeface="Calibri"/>
              </a:rPr>
              <a:t>:</a:t>
            </a:r>
            <a:r>
              <a:rPr sz="2000" spc="-55" dirty="0">
                <a:latin typeface="Calibri"/>
                <a:cs typeface="Calibri"/>
              </a:rPr>
              <a:t> </a:t>
            </a:r>
            <a:r>
              <a:rPr sz="2000" dirty="0">
                <a:latin typeface="Calibri"/>
                <a:cs typeface="Calibri"/>
              </a:rPr>
              <a:t>Enables</a:t>
            </a:r>
            <a:r>
              <a:rPr sz="2000" spc="-55" dirty="0">
                <a:latin typeface="Calibri"/>
                <a:cs typeface="Calibri"/>
              </a:rPr>
              <a:t> </a:t>
            </a:r>
            <a:r>
              <a:rPr sz="2000" dirty="0">
                <a:latin typeface="Calibri"/>
                <a:cs typeface="Calibri"/>
              </a:rPr>
              <a:t>control</a:t>
            </a:r>
            <a:r>
              <a:rPr sz="2000" spc="-60" dirty="0">
                <a:latin typeface="Calibri"/>
                <a:cs typeface="Calibri"/>
              </a:rPr>
              <a:t> </a:t>
            </a:r>
            <a:r>
              <a:rPr sz="2000" dirty="0">
                <a:latin typeface="Calibri"/>
                <a:cs typeface="Calibri"/>
              </a:rPr>
              <a:t>of</a:t>
            </a:r>
            <a:r>
              <a:rPr sz="2000" spc="-55" dirty="0">
                <a:latin typeface="Calibri"/>
                <a:cs typeface="Calibri"/>
              </a:rPr>
              <a:t> </a:t>
            </a:r>
            <a:r>
              <a:rPr sz="2000" dirty="0">
                <a:latin typeface="Calibri"/>
                <a:cs typeface="Calibri"/>
              </a:rPr>
              <a:t>home</a:t>
            </a:r>
            <a:r>
              <a:rPr sz="2000" spc="-60" dirty="0">
                <a:latin typeface="Calibri"/>
                <a:cs typeface="Calibri"/>
              </a:rPr>
              <a:t> </a:t>
            </a:r>
            <a:r>
              <a:rPr sz="2000" dirty="0">
                <a:latin typeface="Calibri"/>
                <a:cs typeface="Calibri"/>
              </a:rPr>
              <a:t>appliances,</a:t>
            </a:r>
            <a:r>
              <a:rPr sz="2000" spc="-65" dirty="0">
                <a:latin typeface="Calibri"/>
                <a:cs typeface="Calibri"/>
              </a:rPr>
              <a:t> </a:t>
            </a:r>
            <a:r>
              <a:rPr sz="2000" dirty="0">
                <a:latin typeface="Calibri"/>
                <a:cs typeface="Calibri"/>
              </a:rPr>
              <a:t>lighting,</a:t>
            </a:r>
            <a:r>
              <a:rPr sz="2000" spc="-60" dirty="0">
                <a:latin typeface="Calibri"/>
                <a:cs typeface="Calibri"/>
              </a:rPr>
              <a:t> </a:t>
            </a:r>
            <a:r>
              <a:rPr sz="2000" dirty="0">
                <a:latin typeface="Calibri"/>
                <a:cs typeface="Calibri"/>
              </a:rPr>
              <a:t>and</a:t>
            </a:r>
            <a:r>
              <a:rPr sz="2000" spc="-60" dirty="0">
                <a:latin typeface="Calibri"/>
                <a:cs typeface="Calibri"/>
              </a:rPr>
              <a:t> </a:t>
            </a:r>
            <a:r>
              <a:rPr sz="2000" dirty="0">
                <a:latin typeface="Calibri"/>
                <a:cs typeface="Calibri"/>
              </a:rPr>
              <a:t>security</a:t>
            </a:r>
            <a:r>
              <a:rPr sz="2000" spc="-60" dirty="0">
                <a:latin typeface="Calibri"/>
                <a:cs typeface="Calibri"/>
              </a:rPr>
              <a:t> </a:t>
            </a:r>
            <a:r>
              <a:rPr sz="2000" spc="-20" dirty="0">
                <a:latin typeface="Calibri"/>
                <a:cs typeface="Calibri"/>
              </a:rPr>
              <a:t>syst </a:t>
            </a:r>
            <a:r>
              <a:rPr sz="2000" dirty="0">
                <a:latin typeface="Calibri"/>
                <a:cs typeface="Calibri"/>
              </a:rPr>
              <a:t>ems</a:t>
            </a:r>
            <a:r>
              <a:rPr sz="2000" spc="-50" dirty="0">
                <a:latin typeface="Calibri"/>
                <a:cs typeface="Calibri"/>
              </a:rPr>
              <a:t> </a:t>
            </a:r>
            <a:r>
              <a:rPr sz="2000" dirty="0">
                <a:latin typeface="Calibri"/>
                <a:cs typeface="Calibri"/>
              </a:rPr>
              <a:t>through</a:t>
            </a:r>
            <a:r>
              <a:rPr sz="2000" spc="-50" dirty="0">
                <a:latin typeface="Calibri"/>
                <a:cs typeface="Calibri"/>
              </a:rPr>
              <a:t> </a:t>
            </a:r>
            <a:r>
              <a:rPr sz="2000" dirty="0">
                <a:latin typeface="Calibri"/>
                <a:cs typeface="Calibri"/>
              </a:rPr>
              <a:t>voice</a:t>
            </a:r>
            <a:r>
              <a:rPr sz="2000" spc="-45" dirty="0">
                <a:latin typeface="Calibri"/>
                <a:cs typeface="Calibri"/>
              </a:rPr>
              <a:t> </a:t>
            </a:r>
            <a:r>
              <a:rPr sz="2000" dirty="0">
                <a:latin typeface="Calibri"/>
                <a:cs typeface="Calibri"/>
              </a:rPr>
              <a:t>commands,</a:t>
            </a:r>
            <a:r>
              <a:rPr sz="2000" spc="-60" dirty="0">
                <a:latin typeface="Calibri"/>
                <a:cs typeface="Calibri"/>
              </a:rPr>
              <a:t> </a:t>
            </a:r>
            <a:r>
              <a:rPr sz="2000" spc="-10" dirty="0">
                <a:latin typeface="Calibri"/>
                <a:cs typeface="Calibri"/>
              </a:rPr>
              <a:t>fostering</a:t>
            </a:r>
            <a:r>
              <a:rPr sz="2000" spc="-60" dirty="0">
                <a:latin typeface="Calibri"/>
                <a:cs typeface="Calibri"/>
              </a:rPr>
              <a:t> </a:t>
            </a:r>
            <a:r>
              <a:rPr sz="2000" spc="-10" dirty="0">
                <a:latin typeface="Calibri"/>
                <a:cs typeface="Calibri"/>
              </a:rPr>
              <a:t>greater</a:t>
            </a:r>
            <a:r>
              <a:rPr sz="2000" spc="-50" dirty="0">
                <a:latin typeface="Calibri"/>
                <a:cs typeface="Calibri"/>
              </a:rPr>
              <a:t> </a:t>
            </a:r>
            <a:r>
              <a:rPr sz="2000" spc="-10" dirty="0">
                <a:latin typeface="Calibri"/>
                <a:cs typeface="Calibri"/>
              </a:rPr>
              <a:t>autonomy</a:t>
            </a:r>
            <a:r>
              <a:rPr sz="2000" spc="-65" dirty="0">
                <a:latin typeface="Calibri"/>
                <a:cs typeface="Calibri"/>
              </a:rPr>
              <a:t> </a:t>
            </a:r>
            <a:r>
              <a:rPr sz="2000" dirty="0">
                <a:latin typeface="Calibri"/>
                <a:cs typeface="Calibri"/>
              </a:rPr>
              <a:t>and</a:t>
            </a:r>
            <a:r>
              <a:rPr sz="2000" spc="-45" dirty="0">
                <a:latin typeface="Calibri"/>
                <a:cs typeface="Calibri"/>
              </a:rPr>
              <a:t> </a:t>
            </a:r>
            <a:r>
              <a:rPr sz="2000" dirty="0">
                <a:latin typeface="Calibri"/>
                <a:cs typeface="Calibri"/>
              </a:rPr>
              <a:t>allowing</a:t>
            </a:r>
            <a:r>
              <a:rPr sz="2000" spc="-40" dirty="0">
                <a:latin typeface="Calibri"/>
                <a:cs typeface="Calibri"/>
              </a:rPr>
              <a:t> </a:t>
            </a:r>
            <a:r>
              <a:rPr sz="2000" dirty="0">
                <a:latin typeface="Calibri"/>
                <a:cs typeface="Calibri"/>
              </a:rPr>
              <a:t>daily</a:t>
            </a:r>
            <a:r>
              <a:rPr sz="2000" spc="-50" dirty="0">
                <a:latin typeface="Calibri"/>
                <a:cs typeface="Calibri"/>
              </a:rPr>
              <a:t> t </a:t>
            </a:r>
            <a:r>
              <a:rPr sz="2000" dirty="0">
                <a:latin typeface="Calibri"/>
                <a:cs typeface="Calibri"/>
              </a:rPr>
              <a:t>asks</a:t>
            </a:r>
            <a:r>
              <a:rPr sz="2000" spc="-25" dirty="0">
                <a:latin typeface="Calibri"/>
                <a:cs typeface="Calibri"/>
              </a:rPr>
              <a:t> </a:t>
            </a:r>
            <a:r>
              <a:rPr sz="2000" dirty="0">
                <a:latin typeface="Calibri"/>
                <a:cs typeface="Calibri"/>
              </a:rPr>
              <a:t>without</a:t>
            </a:r>
            <a:r>
              <a:rPr sz="2000" spc="-30" dirty="0">
                <a:latin typeface="Calibri"/>
                <a:cs typeface="Calibri"/>
              </a:rPr>
              <a:t> </a:t>
            </a:r>
            <a:r>
              <a:rPr sz="2000" spc="-10" dirty="0">
                <a:latin typeface="Calibri"/>
                <a:cs typeface="Calibri"/>
              </a:rPr>
              <a:t>assistance.</a:t>
            </a:r>
            <a:endParaRPr sz="2000" dirty="0">
              <a:latin typeface="Calibri"/>
              <a:cs typeface="Calibri"/>
            </a:endParaRPr>
          </a:p>
          <a:p>
            <a:pPr marL="347345" indent="-342900">
              <a:lnSpc>
                <a:spcPct val="150000"/>
              </a:lnSpc>
              <a:spcBef>
                <a:spcPts val="1080"/>
              </a:spcBef>
              <a:buClr>
                <a:srgbClr val="E38312"/>
              </a:buClr>
              <a:buSzPct val="95833"/>
              <a:buFont typeface="Arial" panose="020B0604020202020204" pitchFamily="34" charset="0"/>
              <a:buChar char="•"/>
              <a:tabLst>
                <a:tab pos="118745" algn="l"/>
              </a:tabLst>
            </a:pPr>
            <a:r>
              <a:rPr sz="2000" b="1" spc="-10" dirty="0">
                <a:latin typeface="Calibri"/>
                <a:cs typeface="Calibri"/>
              </a:rPr>
              <a:t>Customization</a:t>
            </a:r>
            <a:r>
              <a:rPr sz="2000" spc="-10" dirty="0">
                <a:latin typeface="Calibri"/>
                <a:cs typeface="Calibri"/>
              </a:rPr>
              <a:t>:</a:t>
            </a:r>
            <a:r>
              <a:rPr sz="2000" spc="-60" dirty="0">
                <a:latin typeface="Calibri"/>
                <a:cs typeface="Calibri"/>
              </a:rPr>
              <a:t> </a:t>
            </a:r>
            <a:r>
              <a:rPr sz="2000" spc="-25" dirty="0">
                <a:latin typeface="Calibri"/>
                <a:cs typeface="Calibri"/>
              </a:rPr>
              <a:t>Tailors</a:t>
            </a:r>
            <a:r>
              <a:rPr sz="2000" spc="-60" dirty="0">
                <a:latin typeface="Calibri"/>
                <a:cs typeface="Calibri"/>
              </a:rPr>
              <a:t> </a:t>
            </a:r>
            <a:r>
              <a:rPr sz="2000" dirty="0">
                <a:latin typeface="Calibri"/>
                <a:cs typeface="Calibri"/>
              </a:rPr>
              <a:t>to</a:t>
            </a:r>
            <a:r>
              <a:rPr sz="2000" spc="-60" dirty="0">
                <a:latin typeface="Calibri"/>
                <a:cs typeface="Calibri"/>
              </a:rPr>
              <a:t> </a:t>
            </a:r>
            <a:r>
              <a:rPr sz="2000" dirty="0">
                <a:latin typeface="Calibri"/>
                <a:cs typeface="Calibri"/>
              </a:rPr>
              <a:t>specific</a:t>
            </a:r>
            <a:r>
              <a:rPr sz="2000" spc="-55" dirty="0">
                <a:latin typeface="Calibri"/>
                <a:cs typeface="Calibri"/>
              </a:rPr>
              <a:t> </a:t>
            </a:r>
            <a:r>
              <a:rPr sz="2000" dirty="0">
                <a:latin typeface="Calibri"/>
                <a:cs typeface="Calibri"/>
              </a:rPr>
              <a:t>user</a:t>
            </a:r>
            <a:r>
              <a:rPr sz="2000" spc="-55" dirty="0">
                <a:latin typeface="Calibri"/>
                <a:cs typeface="Calibri"/>
              </a:rPr>
              <a:t> </a:t>
            </a:r>
            <a:r>
              <a:rPr sz="2000" dirty="0">
                <a:latin typeface="Calibri"/>
                <a:cs typeface="Calibri"/>
              </a:rPr>
              <a:t>needs,</a:t>
            </a:r>
            <a:r>
              <a:rPr sz="2000" spc="-60" dirty="0">
                <a:latin typeface="Calibri"/>
                <a:cs typeface="Calibri"/>
              </a:rPr>
              <a:t> </a:t>
            </a:r>
            <a:r>
              <a:rPr sz="2000" dirty="0">
                <a:latin typeface="Calibri"/>
                <a:cs typeface="Calibri"/>
              </a:rPr>
              <a:t>allowing</a:t>
            </a:r>
            <a:r>
              <a:rPr sz="2000" spc="-55" dirty="0">
                <a:latin typeface="Calibri"/>
                <a:cs typeface="Calibri"/>
              </a:rPr>
              <a:t> </a:t>
            </a:r>
            <a:r>
              <a:rPr sz="2000" dirty="0">
                <a:latin typeface="Calibri"/>
                <a:cs typeface="Calibri"/>
              </a:rPr>
              <a:t>creation</a:t>
            </a:r>
            <a:r>
              <a:rPr sz="2000" spc="-65" dirty="0">
                <a:latin typeface="Calibri"/>
                <a:cs typeface="Calibri"/>
              </a:rPr>
              <a:t> </a:t>
            </a:r>
            <a:r>
              <a:rPr sz="2000" dirty="0">
                <a:latin typeface="Calibri"/>
                <a:cs typeface="Calibri"/>
              </a:rPr>
              <a:t>of</a:t>
            </a:r>
            <a:r>
              <a:rPr sz="2000" spc="-50" dirty="0">
                <a:latin typeface="Calibri"/>
                <a:cs typeface="Calibri"/>
              </a:rPr>
              <a:t> </a:t>
            </a:r>
            <a:r>
              <a:rPr sz="2000" spc="-10" dirty="0">
                <a:latin typeface="Calibri"/>
                <a:cs typeface="Calibri"/>
              </a:rPr>
              <a:t>personalized</a:t>
            </a:r>
            <a:r>
              <a:rPr lang="en-US" sz="2000" spc="-10" dirty="0">
                <a:latin typeface="Calibri"/>
                <a:cs typeface="Calibri"/>
              </a:rPr>
              <a:t> </a:t>
            </a:r>
            <a:r>
              <a:rPr sz="2000" dirty="0">
                <a:latin typeface="Calibri"/>
                <a:cs typeface="Calibri"/>
              </a:rPr>
              <a:t>routines</a:t>
            </a:r>
            <a:r>
              <a:rPr sz="2000" spc="-75" dirty="0">
                <a:latin typeface="Calibri"/>
                <a:cs typeface="Calibri"/>
              </a:rPr>
              <a:t> </a:t>
            </a:r>
            <a:r>
              <a:rPr sz="2000" dirty="0">
                <a:latin typeface="Calibri"/>
                <a:cs typeface="Calibri"/>
              </a:rPr>
              <a:t>and</a:t>
            </a:r>
            <a:r>
              <a:rPr sz="2000" spc="-65" dirty="0">
                <a:latin typeface="Calibri"/>
                <a:cs typeface="Calibri"/>
              </a:rPr>
              <a:t> </a:t>
            </a:r>
            <a:r>
              <a:rPr sz="2000" spc="-20" dirty="0">
                <a:latin typeface="Calibri"/>
                <a:cs typeface="Calibri"/>
              </a:rPr>
              <a:t>preferences</a:t>
            </a:r>
            <a:r>
              <a:rPr sz="2000" spc="-45" dirty="0">
                <a:latin typeface="Calibri"/>
                <a:cs typeface="Calibri"/>
              </a:rPr>
              <a:t> </a:t>
            </a:r>
            <a:r>
              <a:rPr sz="2000" dirty="0">
                <a:latin typeface="Calibri"/>
                <a:cs typeface="Calibri"/>
              </a:rPr>
              <a:t>aligned</a:t>
            </a:r>
            <a:r>
              <a:rPr sz="2000" spc="-50" dirty="0">
                <a:latin typeface="Calibri"/>
                <a:cs typeface="Calibri"/>
              </a:rPr>
              <a:t> </a:t>
            </a:r>
            <a:r>
              <a:rPr sz="2000" dirty="0">
                <a:latin typeface="Calibri"/>
                <a:cs typeface="Calibri"/>
              </a:rPr>
              <a:t>with</a:t>
            </a:r>
            <a:r>
              <a:rPr sz="2000" spc="-70" dirty="0">
                <a:latin typeface="Calibri"/>
                <a:cs typeface="Calibri"/>
              </a:rPr>
              <a:t> </a:t>
            </a:r>
            <a:r>
              <a:rPr sz="2000" dirty="0">
                <a:latin typeface="Calibri"/>
                <a:cs typeface="Calibri"/>
              </a:rPr>
              <a:t>daily</a:t>
            </a:r>
            <a:r>
              <a:rPr sz="2000" spc="-65" dirty="0">
                <a:latin typeface="Calibri"/>
                <a:cs typeface="Calibri"/>
              </a:rPr>
              <a:t> </a:t>
            </a:r>
            <a:r>
              <a:rPr sz="2000" dirty="0">
                <a:latin typeface="Calibri"/>
                <a:cs typeface="Calibri"/>
              </a:rPr>
              <a:t>schedules</a:t>
            </a:r>
            <a:r>
              <a:rPr sz="2000" spc="-65" dirty="0">
                <a:latin typeface="Calibri"/>
                <a:cs typeface="Calibri"/>
              </a:rPr>
              <a:t> </a:t>
            </a:r>
            <a:r>
              <a:rPr sz="2000" dirty="0">
                <a:latin typeface="Calibri"/>
                <a:cs typeface="Calibri"/>
              </a:rPr>
              <a:t>and</a:t>
            </a:r>
            <a:r>
              <a:rPr sz="2000" spc="-60" dirty="0">
                <a:latin typeface="Calibri"/>
                <a:cs typeface="Calibri"/>
              </a:rPr>
              <a:t> </a:t>
            </a:r>
            <a:r>
              <a:rPr sz="2000" spc="-10" dirty="0">
                <a:latin typeface="Calibri"/>
                <a:cs typeface="Calibri"/>
              </a:rPr>
              <a:t>health.</a:t>
            </a:r>
            <a:endParaRPr sz="20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7630" rIns="0" bIns="0" rtlCol="0">
            <a:spAutoFit/>
          </a:bodyPr>
          <a:lstStyle/>
          <a:p>
            <a:pPr marL="57785">
              <a:lnSpc>
                <a:spcPct val="100000"/>
              </a:lnSpc>
              <a:spcBef>
                <a:spcPts val="95"/>
              </a:spcBef>
            </a:pPr>
            <a:r>
              <a:rPr sz="4000" spc="-55" dirty="0"/>
              <a:t>Components</a:t>
            </a:r>
            <a:r>
              <a:rPr sz="4000" spc="-170" dirty="0"/>
              <a:t> </a:t>
            </a:r>
            <a:r>
              <a:rPr sz="4000" spc="-20" dirty="0"/>
              <a:t>Used</a:t>
            </a:r>
            <a:endParaRPr sz="4000"/>
          </a:p>
        </p:txBody>
      </p:sp>
      <p:sp>
        <p:nvSpPr>
          <p:cNvPr id="3" name="object 3"/>
          <p:cNvSpPr txBox="1"/>
          <p:nvPr/>
        </p:nvSpPr>
        <p:spPr>
          <a:xfrm>
            <a:off x="1130604" y="1667611"/>
            <a:ext cx="2882900" cy="2738755"/>
          </a:xfrm>
          <a:prstGeom prst="rect">
            <a:avLst/>
          </a:prstGeom>
        </p:spPr>
        <p:txBody>
          <a:bodyPr vert="horz" wrap="square" lIns="0" tIns="160020" rIns="0" bIns="0" rtlCol="0">
            <a:spAutoFit/>
          </a:bodyPr>
          <a:lstStyle/>
          <a:p>
            <a:pPr marL="469265" indent="-456565">
              <a:lnSpc>
                <a:spcPct val="100000"/>
              </a:lnSpc>
              <a:spcBef>
                <a:spcPts val="1260"/>
              </a:spcBef>
              <a:buClr>
                <a:srgbClr val="E38312"/>
              </a:buClr>
              <a:buAutoNum type="arabicPeriod"/>
              <a:tabLst>
                <a:tab pos="469265" algn="l"/>
              </a:tabLst>
            </a:pPr>
            <a:r>
              <a:rPr sz="2000" dirty="0">
                <a:solidFill>
                  <a:srgbClr val="0D0D0D"/>
                </a:solidFill>
                <a:latin typeface="Calibri"/>
                <a:cs typeface="Calibri"/>
              </a:rPr>
              <a:t>ESP32</a:t>
            </a:r>
            <a:r>
              <a:rPr sz="2000" spc="-50" dirty="0">
                <a:solidFill>
                  <a:srgbClr val="0D0D0D"/>
                </a:solidFill>
                <a:latin typeface="Calibri"/>
                <a:cs typeface="Calibri"/>
              </a:rPr>
              <a:t> </a:t>
            </a:r>
            <a:r>
              <a:rPr sz="2000" spc="-20" dirty="0">
                <a:solidFill>
                  <a:srgbClr val="0D0D0D"/>
                </a:solidFill>
                <a:latin typeface="Calibri"/>
                <a:cs typeface="Calibri"/>
              </a:rPr>
              <a:t>Micro-</a:t>
            </a:r>
            <a:r>
              <a:rPr sz="2000" spc="-10" dirty="0">
                <a:solidFill>
                  <a:srgbClr val="0D0D0D"/>
                </a:solidFill>
                <a:latin typeface="Calibri"/>
                <a:cs typeface="Calibri"/>
              </a:rPr>
              <a:t>Controller</a:t>
            </a:r>
            <a:endParaRPr sz="2000">
              <a:latin typeface="Calibri"/>
              <a:cs typeface="Calibri"/>
            </a:endParaRPr>
          </a:p>
          <a:p>
            <a:pPr marL="469265" indent="-456565">
              <a:lnSpc>
                <a:spcPct val="100000"/>
              </a:lnSpc>
              <a:spcBef>
                <a:spcPts val="1165"/>
              </a:spcBef>
              <a:buClr>
                <a:srgbClr val="E38312"/>
              </a:buClr>
              <a:buAutoNum type="arabicPeriod"/>
              <a:tabLst>
                <a:tab pos="469265" algn="l"/>
              </a:tabLst>
            </a:pPr>
            <a:r>
              <a:rPr sz="2000" dirty="0">
                <a:solidFill>
                  <a:srgbClr val="0D0D0D"/>
                </a:solidFill>
                <a:latin typeface="Calibri"/>
                <a:cs typeface="Calibri"/>
              </a:rPr>
              <a:t>Relay</a:t>
            </a:r>
            <a:r>
              <a:rPr sz="2000" spc="-105" dirty="0">
                <a:solidFill>
                  <a:srgbClr val="0D0D0D"/>
                </a:solidFill>
                <a:latin typeface="Calibri"/>
                <a:cs typeface="Calibri"/>
              </a:rPr>
              <a:t> </a:t>
            </a:r>
            <a:r>
              <a:rPr sz="2000" spc="-10" dirty="0">
                <a:solidFill>
                  <a:srgbClr val="0D0D0D"/>
                </a:solidFill>
                <a:latin typeface="Calibri"/>
                <a:cs typeface="Calibri"/>
              </a:rPr>
              <a:t>driver</a:t>
            </a:r>
            <a:endParaRPr sz="2000">
              <a:latin typeface="Calibri"/>
              <a:cs typeface="Calibri"/>
            </a:endParaRPr>
          </a:p>
          <a:p>
            <a:pPr marL="469265" indent="-456565">
              <a:lnSpc>
                <a:spcPct val="100000"/>
              </a:lnSpc>
              <a:spcBef>
                <a:spcPts val="1155"/>
              </a:spcBef>
              <a:buClr>
                <a:srgbClr val="E38312"/>
              </a:buClr>
              <a:buAutoNum type="arabicPeriod"/>
              <a:tabLst>
                <a:tab pos="469265" algn="l"/>
              </a:tabLst>
            </a:pPr>
            <a:r>
              <a:rPr sz="2000" dirty="0">
                <a:solidFill>
                  <a:srgbClr val="0D0D0D"/>
                </a:solidFill>
                <a:latin typeface="Calibri"/>
                <a:cs typeface="Calibri"/>
              </a:rPr>
              <a:t>L289N</a:t>
            </a:r>
            <a:r>
              <a:rPr sz="2000" spc="-45" dirty="0">
                <a:solidFill>
                  <a:srgbClr val="0D0D0D"/>
                </a:solidFill>
                <a:latin typeface="Calibri"/>
                <a:cs typeface="Calibri"/>
              </a:rPr>
              <a:t> </a:t>
            </a:r>
            <a:r>
              <a:rPr sz="2000" dirty="0">
                <a:solidFill>
                  <a:srgbClr val="0D0D0D"/>
                </a:solidFill>
                <a:latin typeface="Calibri"/>
                <a:cs typeface="Calibri"/>
              </a:rPr>
              <a:t>Motor</a:t>
            </a:r>
            <a:r>
              <a:rPr sz="2000" spc="-25" dirty="0">
                <a:solidFill>
                  <a:srgbClr val="0D0D0D"/>
                </a:solidFill>
                <a:latin typeface="Calibri"/>
                <a:cs typeface="Calibri"/>
              </a:rPr>
              <a:t> </a:t>
            </a:r>
            <a:r>
              <a:rPr sz="2000" spc="-10" dirty="0">
                <a:solidFill>
                  <a:srgbClr val="0D0D0D"/>
                </a:solidFill>
                <a:latin typeface="Calibri"/>
                <a:cs typeface="Calibri"/>
              </a:rPr>
              <a:t>driver</a:t>
            </a:r>
            <a:endParaRPr sz="2000">
              <a:latin typeface="Calibri"/>
              <a:cs typeface="Calibri"/>
            </a:endParaRPr>
          </a:p>
          <a:p>
            <a:pPr marL="469265" indent="-456565">
              <a:lnSpc>
                <a:spcPct val="100000"/>
              </a:lnSpc>
              <a:spcBef>
                <a:spcPts val="1165"/>
              </a:spcBef>
              <a:buClr>
                <a:srgbClr val="E38312"/>
              </a:buClr>
              <a:buAutoNum type="arabicPeriod"/>
              <a:tabLst>
                <a:tab pos="469265" algn="l"/>
              </a:tabLst>
            </a:pPr>
            <a:r>
              <a:rPr sz="2000" dirty="0">
                <a:solidFill>
                  <a:srgbClr val="0D0D0D"/>
                </a:solidFill>
                <a:latin typeface="Calibri"/>
                <a:cs typeface="Calibri"/>
              </a:rPr>
              <a:t>LED</a:t>
            </a:r>
            <a:r>
              <a:rPr sz="2000" spc="-25" dirty="0">
                <a:solidFill>
                  <a:srgbClr val="0D0D0D"/>
                </a:solidFill>
                <a:latin typeface="Calibri"/>
                <a:cs typeface="Calibri"/>
              </a:rPr>
              <a:t> </a:t>
            </a:r>
            <a:r>
              <a:rPr sz="2000" spc="-20" dirty="0">
                <a:solidFill>
                  <a:srgbClr val="0D0D0D"/>
                </a:solidFill>
                <a:latin typeface="Calibri"/>
                <a:cs typeface="Calibri"/>
              </a:rPr>
              <a:t>Bulb</a:t>
            </a:r>
            <a:endParaRPr sz="2000">
              <a:latin typeface="Calibri"/>
              <a:cs typeface="Calibri"/>
            </a:endParaRPr>
          </a:p>
          <a:p>
            <a:pPr marL="469265" indent="-456565">
              <a:lnSpc>
                <a:spcPct val="100000"/>
              </a:lnSpc>
              <a:spcBef>
                <a:spcPts val="1165"/>
              </a:spcBef>
              <a:buClr>
                <a:srgbClr val="E38312"/>
              </a:buClr>
              <a:buAutoNum type="arabicPeriod"/>
              <a:tabLst>
                <a:tab pos="469265" algn="l"/>
              </a:tabLst>
            </a:pPr>
            <a:r>
              <a:rPr sz="2000" spc="-25" dirty="0">
                <a:solidFill>
                  <a:srgbClr val="0D0D0D"/>
                </a:solidFill>
                <a:latin typeface="Calibri"/>
                <a:cs typeface="Calibri"/>
              </a:rPr>
              <a:t>Fan</a:t>
            </a:r>
            <a:endParaRPr sz="2000">
              <a:latin typeface="Calibri"/>
              <a:cs typeface="Calibri"/>
            </a:endParaRPr>
          </a:p>
          <a:p>
            <a:pPr marL="469265" indent="-456565">
              <a:lnSpc>
                <a:spcPct val="100000"/>
              </a:lnSpc>
              <a:spcBef>
                <a:spcPts val="1150"/>
              </a:spcBef>
              <a:buClr>
                <a:srgbClr val="E38312"/>
              </a:buClr>
              <a:buAutoNum type="arabicPeriod"/>
              <a:tabLst>
                <a:tab pos="469265" algn="l"/>
              </a:tabLst>
            </a:pPr>
            <a:r>
              <a:rPr sz="2000" dirty="0">
                <a:solidFill>
                  <a:srgbClr val="0D0D0D"/>
                </a:solidFill>
                <a:latin typeface="Calibri"/>
                <a:cs typeface="Calibri"/>
              </a:rPr>
              <a:t>9</a:t>
            </a:r>
            <a:r>
              <a:rPr sz="2000" spc="-35" dirty="0">
                <a:solidFill>
                  <a:srgbClr val="0D0D0D"/>
                </a:solidFill>
                <a:latin typeface="Calibri"/>
                <a:cs typeface="Calibri"/>
              </a:rPr>
              <a:t> </a:t>
            </a:r>
            <a:r>
              <a:rPr sz="2000" spc="-10" dirty="0">
                <a:solidFill>
                  <a:srgbClr val="0D0D0D"/>
                </a:solidFill>
                <a:latin typeface="Calibri"/>
                <a:cs typeface="Calibri"/>
              </a:rPr>
              <a:t>Volt</a:t>
            </a:r>
            <a:r>
              <a:rPr sz="2000" spc="-45" dirty="0">
                <a:solidFill>
                  <a:srgbClr val="0D0D0D"/>
                </a:solidFill>
                <a:latin typeface="Calibri"/>
                <a:cs typeface="Calibri"/>
              </a:rPr>
              <a:t> </a:t>
            </a:r>
            <a:r>
              <a:rPr sz="2000" spc="-10" dirty="0">
                <a:solidFill>
                  <a:srgbClr val="0D0D0D"/>
                </a:solidFill>
                <a:latin typeface="Calibri"/>
                <a:cs typeface="Calibri"/>
              </a:rPr>
              <a:t>Battery</a:t>
            </a:r>
            <a:endParaRPr sz="20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1FD1D-7037-D30A-5CC9-D08BED843DD6}"/>
              </a:ext>
            </a:extLst>
          </p:cNvPr>
          <p:cNvSpPr>
            <a:spLocks noGrp="1"/>
          </p:cNvSpPr>
          <p:nvPr>
            <p:ph type="title"/>
          </p:nvPr>
        </p:nvSpPr>
        <p:spPr>
          <a:xfrm>
            <a:off x="1084580" y="457200"/>
            <a:ext cx="9839350" cy="677108"/>
          </a:xfrm>
        </p:spPr>
        <p:txBody>
          <a:bodyPr/>
          <a:lstStyle/>
          <a:p>
            <a:r>
              <a:rPr lang="en-US" dirty="0"/>
              <a:t>Circuit design</a:t>
            </a:r>
            <a:endParaRPr lang="en-IN" dirty="0"/>
          </a:p>
        </p:txBody>
      </p:sp>
      <p:sp>
        <p:nvSpPr>
          <p:cNvPr id="3" name="Text Placeholder 2">
            <a:extLst>
              <a:ext uri="{FF2B5EF4-FFF2-40B4-BE49-F238E27FC236}">
                <a16:creationId xmlns:a16="http://schemas.microsoft.com/office/drawing/2014/main" id="{1F15A4E1-3E50-E100-B5DC-5EB3ED571C72}"/>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E276B77A-EFF1-7335-94F3-E8B849468A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78" y="1134308"/>
            <a:ext cx="12192000" cy="5339802"/>
          </a:xfrm>
          <a:prstGeom prst="rect">
            <a:avLst/>
          </a:prstGeom>
        </p:spPr>
      </p:pic>
    </p:spTree>
    <p:extLst>
      <p:ext uri="{BB962C8B-B14F-4D97-AF65-F5344CB8AC3E}">
        <p14:creationId xmlns:p14="http://schemas.microsoft.com/office/powerpoint/2010/main" val="4284878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FA89-D8FB-E194-145D-785A6CB6471D}"/>
              </a:ext>
            </a:extLst>
          </p:cNvPr>
          <p:cNvSpPr>
            <a:spLocks noGrp="1"/>
          </p:cNvSpPr>
          <p:nvPr>
            <p:ph type="title"/>
          </p:nvPr>
        </p:nvSpPr>
        <p:spPr>
          <a:xfrm>
            <a:off x="1176324" y="908684"/>
            <a:ext cx="9839350" cy="677108"/>
          </a:xfrm>
        </p:spPr>
        <p:txBody>
          <a:bodyPr/>
          <a:lstStyle/>
          <a:p>
            <a:r>
              <a:rPr lang="en-US" dirty="0"/>
              <a:t>Working</a:t>
            </a:r>
            <a:endParaRPr lang="en-IN" dirty="0"/>
          </a:p>
        </p:txBody>
      </p:sp>
      <p:sp>
        <p:nvSpPr>
          <p:cNvPr id="3" name="Text Placeholder 2">
            <a:extLst>
              <a:ext uri="{FF2B5EF4-FFF2-40B4-BE49-F238E27FC236}">
                <a16:creationId xmlns:a16="http://schemas.microsoft.com/office/drawing/2014/main" id="{C1F907D3-62C0-A334-1CF0-DC8B1EDC9648}"/>
              </a:ext>
            </a:extLst>
          </p:cNvPr>
          <p:cNvSpPr>
            <a:spLocks noGrp="1"/>
          </p:cNvSpPr>
          <p:nvPr>
            <p:ph type="body" idx="1"/>
          </p:nvPr>
        </p:nvSpPr>
        <p:spPr>
          <a:xfrm>
            <a:off x="1084580" y="1831975"/>
            <a:ext cx="8683625" cy="4107278"/>
          </a:xfrm>
        </p:spPr>
        <p:txBody>
          <a:bodyPr/>
          <a:lstStyle/>
          <a:p>
            <a:pPr>
              <a:lnSpc>
                <a:spcPct val="150000"/>
              </a:lnSpc>
            </a:pPr>
            <a:r>
              <a:rPr lang="en-US" b="0" dirty="0"/>
              <a:t>This project effectively showcases a voice-activated home automation system capable of managing two key components: a light and a fan. By issuing straightforward commands such as "Turn on the light" or "Turn off the light," users can seamlessly control the lighting. The fan is equally easy to manage with voice instructions like "Turn on the fan" or "Turn off the fan." An added feature, the "Auto-fan control," adjusts the fan's speed based on the ambient temperature, enhancing comfort and energy efficiency. This system is designed to be user-friendly and highly responsive, offering a smart, convenient solution for home automation.</a:t>
            </a:r>
            <a:endParaRPr lang="en-IN" b="0" dirty="0"/>
          </a:p>
        </p:txBody>
      </p:sp>
    </p:spTree>
    <p:extLst>
      <p:ext uri="{BB962C8B-B14F-4D97-AF65-F5344CB8AC3E}">
        <p14:creationId xmlns:p14="http://schemas.microsoft.com/office/powerpoint/2010/main" val="599443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ECAF2-0104-8F80-4996-25DF478A8BCA}"/>
              </a:ext>
            </a:extLst>
          </p:cNvPr>
          <p:cNvSpPr>
            <a:spLocks noGrp="1"/>
          </p:cNvSpPr>
          <p:nvPr>
            <p:ph type="title"/>
          </p:nvPr>
        </p:nvSpPr>
        <p:spPr>
          <a:xfrm>
            <a:off x="1176324" y="908684"/>
            <a:ext cx="9839350" cy="677108"/>
          </a:xfrm>
        </p:spPr>
        <p:txBody>
          <a:bodyPr/>
          <a:lstStyle/>
          <a:p>
            <a:r>
              <a:rPr lang="en-US" dirty="0"/>
              <a:t>R</a:t>
            </a:r>
            <a:r>
              <a:rPr lang="en-IN" dirty="0"/>
              <a:t>esult</a:t>
            </a:r>
          </a:p>
        </p:txBody>
      </p:sp>
      <p:sp>
        <p:nvSpPr>
          <p:cNvPr id="3" name="Text Placeholder 2">
            <a:extLst>
              <a:ext uri="{FF2B5EF4-FFF2-40B4-BE49-F238E27FC236}">
                <a16:creationId xmlns:a16="http://schemas.microsoft.com/office/drawing/2014/main" id="{9CD28761-84C7-A140-77A0-468A159914F0}"/>
              </a:ext>
            </a:extLst>
          </p:cNvPr>
          <p:cNvSpPr>
            <a:spLocks noGrp="1"/>
          </p:cNvSpPr>
          <p:nvPr>
            <p:ph type="body" idx="1"/>
          </p:nvPr>
        </p:nvSpPr>
        <p:spPr>
          <a:xfrm>
            <a:off x="1176324" y="1752600"/>
            <a:ext cx="8683625" cy="3645613"/>
          </a:xfrm>
        </p:spPr>
        <p:txBody>
          <a:bodyPr/>
          <a:lstStyle/>
          <a:p>
            <a:pPr marL="342900" indent="-342900">
              <a:lnSpc>
                <a:spcPct val="150000"/>
              </a:lnSpc>
              <a:buFont typeface="Arial" panose="020B0604020202020204" pitchFamily="34" charset="0"/>
              <a:buChar char="•"/>
            </a:pPr>
            <a:r>
              <a:rPr lang="en-IN" b="0" u="sng" dirty="0"/>
              <a:t>Speed control</a:t>
            </a:r>
            <a:r>
              <a:rPr lang="en-IN" b="0" u="sng" dirty="0">
                <a:effectLst>
                  <a:outerShdw blurRad="38100" dist="38100" dir="2700000" algn="tl">
                    <a:srgbClr val="000000">
                      <a:alpha val="43137"/>
                    </a:srgbClr>
                  </a:outerShdw>
                </a:effectLst>
              </a:rPr>
              <a:t> </a:t>
            </a:r>
            <a:r>
              <a:rPr lang="en-IN" b="0" dirty="0">
                <a:effectLst>
                  <a:outerShdw blurRad="38100" dist="38100" dir="2700000" algn="tl">
                    <a:srgbClr val="000000">
                      <a:alpha val="43137"/>
                    </a:srgbClr>
                  </a:outerShdw>
                </a:effectLst>
              </a:rPr>
              <a:t>:</a:t>
            </a:r>
            <a:r>
              <a:rPr lang="en-IN" b="0" dirty="0"/>
              <a:t>As our fan is voice activated .The speed of fan is varying according to external temperature and humidity using sensors. And if outside temperature is less, speed of fan is slow. Similarly if the external temperature is high or moderate, the fan speed will be high or moderate respectively. For doing above operations DTH11 sensors , which is digital sensor that measures temperature and humidity are used.</a:t>
            </a:r>
          </a:p>
          <a:p>
            <a:pPr marL="342900" indent="-342900">
              <a:lnSpc>
                <a:spcPct val="150000"/>
              </a:lnSpc>
              <a:buFont typeface="Arial" panose="020B0604020202020204" pitchFamily="34" charset="0"/>
              <a:buChar char="•"/>
            </a:pPr>
            <a:r>
              <a:rPr lang="en-IN" b="0" u="sng" dirty="0"/>
              <a:t>Light control </a:t>
            </a:r>
            <a:r>
              <a:rPr lang="en-IN" b="0" dirty="0"/>
              <a:t>: The main component in this project is light. and light is controlled using voice ,like switching on and off of light is done by giving voice commands.</a:t>
            </a:r>
          </a:p>
        </p:txBody>
      </p:sp>
    </p:spTree>
    <p:extLst>
      <p:ext uri="{BB962C8B-B14F-4D97-AF65-F5344CB8AC3E}">
        <p14:creationId xmlns:p14="http://schemas.microsoft.com/office/powerpoint/2010/main" val="2676253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31715-B43F-8EA6-2DA1-BD9BF304FB8C}"/>
              </a:ext>
            </a:extLst>
          </p:cNvPr>
          <p:cNvSpPr>
            <a:spLocks noGrp="1"/>
          </p:cNvSpPr>
          <p:nvPr>
            <p:ph type="title"/>
          </p:nvPr>
        </p:nvSpPr>
        <p:spPr>
          <a:xfrm>
            <a:off x="1176324" y="908684"/>
            <a:ext cx="9839350" cy="677108"/>
          </a:xfrm>
        </p:spPr>
        <p:txBody>
          <a:bodyPr/>
          <a:lstStyle/>
          <a:p>
            <a:r>
              <a:rPr lang="en-US" dirty="0"/>
              <a:t>Conclusion</a:t>
            </a:r>
            <a:endParaRPr lang="en-IN" dirty="0"/>
          </a:p>
        </p:txBody>
      </p:sp>
      <p:sp>
        <p:nvSpPr>
          <p:cNvPr id="3" name="Text Placeholder 2">
            <a:extLst>
              <a:ext uri="{FF2B5EF4-FFF2-40B4-BE49-F238E27FC236}">
                <a16:creationId xmlns:a16="http://schemas.microsoft.com/office/drawing/2014/main" id="{66D27356-28B2-B003-B331-76022BEAC028}"/>
              </a:ext>
            </a:extLst>
          </p:cNvPr>
          <p:cNvSpPr>
            <a:spLocks noGrp="1"/>
          </p:cNvSpPr>
          <p:nvPr>
            <p:ph type="body" idx="1"/>
          </p:nvPr>
        </p:nvSpPr>
        <p:spPr>
          <a:xfrm>
            <a:off x="1084580" y="1831975"/>
            <a:ext cx="8683625" cy="3183949"/>
          </a:xfrm>
        </p:spPr>
        <p:txBody>
          <a:bodyPr/>
          <a:lstStyle/>
          <a:p>
            <a:pPr>
              <a:lnSpc>
                <a:spcPct val="150000"/>
              </a:lnSpc>
            </a:pPr>
            <a:r>
              <a:rPr lang="en-US" b="0" dirty="0"/>
              <a:t>Voice-activated home automation can greatly enhance the lives of elderly and physically challenged individuals, offering increased independence, convenience, and safety through simple voice commands. However, challenges like accuracy issues, privacy concerns, internet dependency, and complexity must be addressed. By focusing on user-friendly design, robust privacy measures, and adequate training, these systems can promote autonomy and improve daily life. Ongoing development is crucial to meet the diverse needs of users.</a:t>
            </a:r>
            <a:endParaRPr lang="en-IN" b="0" dirty="0"/>
          </a:p>
        </p:txBody>
      </p:sp>
    </p:spTree>
    <p:extLst>
      <p:ext uri="{BB962C8B-B14F-4D97-AF65-F5344CB8AC3E}">
        <p14:creationId xmlns:p14="http://schemas.microsoft.com/office/powerpoint/2010/main" val="3275627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800" spc="-80" dirty="0"/>
              <a:t>References</a:t>
            </a:r>
            <a:endParaRPr sz="4800"/>
          </a:p>
        </p:txBody>
      </p:sp>
      <p:sp>
        <p:nvSpPr>
          <p:cNvPr id="3" name="object 3"/>
          <p:cNvSpPr txBox="1"/>
          <p:nvPr/>
        </p:nvSpPr>
        <p:spPr>
          <a:xfrm>
            <a:off x="1084580" y="1684756"/>
            <a:ext cx="4249420" cy="2841804"/>
          </a:xfrm>
          <a:prstGeom prst="rect">
            <a:avLst/>
          </a:prstGeom>
        </p:spPr>
        <p:txBody>
          <a:bodyPr vert="horz" wrap="square" lIns="0" tIns="160020" rIns="0" bIns="0" rtlCol="0">
            <a:spAutoFit/>
          </a:bodyPr>
          <a:lstStyle/>
          <a:p>
            <a:pPr marL="104139" indent="-97155">
              <a:lnSpc>
                <a:spcPct val="100000"/>
              </a:lnSpc>
              <a:spcBef>
                <a:spcPts val="1260"/>
              </a:spcBef>
              <a:buClr>
                <a:srgbClr val="E38312"/>
              </a:buClr>
              <a:buSzPct val="95000"/>
              <a:buFont typeface="Arial MT"/>
              <a:buChar char="•"/>
              <a:tabLst>
                <a:tab pos="104139" algn="l"/>
              </a:tabLst>
            </a:pPr>
            <a:r>
              <a:rPr lang="en-IN" sz="2000" dirty="0"/>
              <a:t> https://www.copilot.com </a:t>
            </a:r>
          </a:p>
          <a:p>
            <a:pPr marL="104139" indent="-97155">
              <a:lnSpc>
                <a:spcPct val="100000"/>
              </a:lnSpc>
              <a:spcBef>
                <a:spcPts val="1260"/>
              </a:spcBef>
              <a:buClr>
                <a:srgbClr val="E38312"/>
              </a:buClr>
              <a:buSzPct val="95000"/>
              <a:buFont typeface="Arial MT"/>
              <a:buChar char="•"/>
              <a:tabLst>
                <a:tab pos="104139" algn="l"/>
              </a:tabLst>
            </a:pPr>
            <a:r>
              <a:rPr lang="en-IN" sz="2000" dirty="0">
                <a:hlinkClick r:id="rId2"/>
              </a:rPr>
              <a:t>www.arduino.cc</a:t>
            </a:r>
            <a:endParaRPr lang="en-IN" sz="2000" dirty="0"/>
          </a:p>
          <a:p>
            <a:pPr marL="104139" indent="-97155">
              <a:lnSpc>
                <a:spcPct val="100000"/>
              </a:lnSpc>
              <a:spcBef>
                <a:spcPts val="1260"/>
              </a:spcBef>
              <a:buClr>
                <a:srgbClr val="E38312"/>
              </a:buClr>
              <a:buSzPct val="95000"/>
              <a:buFont typeface="Arial MT"/>
              <a:buChar char="•"/>
              <a:tabLst>
                <a:tab pos="104139" algn="l"/>
              </a:tabLst>
            </a:pPr>
            <a:r>
              <a:rPr lang="en-IN" sz="2000" dirty="0"/>
              <a:t>https://sist.sathyabama.ac.in </a:t>
            </a:r>
          </a:p>
          <a:p>
            <a:pPr marL="104139" indent="-97155">
              <a:lnSpc>
                <a:spcPct val="100000"/>
              </a:lnSpc>
              <a:spcBef>
                <a:spcPts val="1260"/>
              </a:spcBef>
              <a:buClr>
                <a:srgbClr val="E38312"/>
              </a:buClr>
              <a:buSzPct val="95000"/>
              <a:buFont typeface="Arial MT"/>
              <a:buChar char="•"/>
              <a:tabLst>
                <a:tab pos="104139" algn="l"/>
              </a:tabLst>
            </a:pPr>
            <a:r>
              <a:rPr lang="en-IN" sz="2000" dirty="0"/>
              <a:t>www.cirkitstudio.com </a:t>
            </a:r>
          </a:p>
          <a:p>
            <a:pPr marL="104139" indent="-97155">
              <a:lnSpc>
                <a:spcPct val="100000"/>
              </a:lnSpc>
              <a:spcBef>
                <a:spcPts val="1260"/>
              </a:spcBef>
              <a:buClr>
                <a:srgbClr val="E38312"/>
              </a:buClr>
              <a:buSzPct val="95000"/>
              <a:buFont typeface="Arial MT"/>
              <a:buChar char="•"/>
              <a:tabLst>
                <a:tab pos="104139" algn="l"/>
              </a:tabLst>
            </a:pPr>
            <a:r>
              <a:rPr lang="en-IN" sz="2000" dirty="0"/>
              <a:t>www.esp32io.com</a:t>
            </a:r>
          </a:p>
          <a:p>
            <a:pPr marL="104139" indent="-97155">
              <a:lnSpc>
                <a:spcPct val="100000"/>
              </a:lnSpc>
              <a:spcBef>
                <a:spcPts val="1260"/>
              </a:spcBef>
              <a:buClr>
                <a:srgbClr val="E38312"/>
              </a:buClr>
              <a:buSzPct val="95000"/>
              <a:buFont typeface="Arial MT"/>
              <a:buChar char="•"/>
              <a:tabLst>
                <a:tab pos="104139" algn="l"/>
              </a:tabLst>
            </a:pPr>
            <a:r>
              <a:rPr lang="en-IN" sz="2000" dirty="0"/>
              <a:t>http://homeautomationmagzine.com</a:t>
            </a:r>
            <a:endParaRPr sz="200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6BF9C-7B05-D316-11AA-24E11BF9BB18}"/>
              </a:ext>
            </a:extLst>
          </p:cNvPr>
          <p:cNvSpPr>
            <a:spLocks noGrp="1"/>
          </p:cNvSpPr>
          <p:nvPr>
            <p:ph type="title"/>
          </p:nvPr>
        </p:nvSpPr>
        <p:spPr>
          <a:xfrm>
            <a:off x="1176324" y="908684"/>
            <a:ext cx="9839350" cy="677108"/>
          </a:xfrm>
        </p:spPr>
        <p:txBody>
          <a:bodyPr/>
          <a:lstStyle/>
          <a:p>
            <a:endParaRPr lang="en-IN" dirty="0"/>
          </a:p>
        </p:txBody>
      </p:sp>
      <p:sp>
        <p:nvSpPr>
          <p:cNvPr id="3" name="Text Placeholder 2">
            <a:extLst>
              <a:ext uri="{FF2B5EF4-FFF2-40B4-BE49-F238E27FC236}">
                <a16:creationId xmlns:a16="http://schemas.microsoft.com/office/drawing/2014/main" id="{054DBCA2-D6EA-B473-0237-07FF95113AA1}"/>
              </a:ext>
            </a:extLst>
          </p:cNvPr>
          <p:cNvSpPr>
            <a:spLocks noGrp="1"/>
          </p:cNvSpPr>
          <p:nvPr>
            <p:ph type="body" idx="1"/>
          </p:nvPr>
        </p:nvSpPr>
        <p:spPr>
          <a:xfrm>
            <a:off x="1084580" y="1831975"/>
            <a:ext cx="8683625" cy="830997"/>
          </a:xfrm>
        </p:spPr>
        <p:txBody>
          <a:bodyPr/>
          <a:lstStyle/>
          <a:p>
            <a:pPr algn="ctr"/>
            <a:r>
              <a:rPr lang="en-US" sz="5400" b="0" dirty="0"/>
              <a:t>Thank You</a:t>
            </a:r>
            <a:endParaRPr lang="en-IN" sz="5400" b="0" dirty="0"/>
          </a:p>
        </p:txBody>
      </p:sp>
    </p:spTree>
    <p:extLst>
      <p:ext uri="{BB962C8B-B14F-4D97-AF65-F5344CB8AC3E}">
        <p14:creationId xmlns:p14="http://schemas.microsoft.com/office/powerpoint/2010/main" val="1855013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7978" rIns="0" bIns="0" rtlCol="0">
            <a:spAutoFit/>
          </a:bodyPr>
          <a:lstStyle/>
          <a:p>
            <a:pPr marL="12700">
              <a:lnSpc>
                <a:spcPct val="100000"/>
              </a:lnSpc>
              <a:spcBef>
                <a:spcPts val="105"/>
              </a:spcBef>
            </a:pPr>
            <a:r>
              <a:rPr spc="-40" dirty="0"/>
              <a:t>Cost</a:t>
            </a:r>
            <a:r>
              <a:rPr spc="-195" dirty="0"/>
              <a:t> </a:t>
            </a:r>
            <a:r>
              <a:rPr spc="-45" dirty="0"/>
              <a:t>for</a:t>
            </a:r>
            <a:r>
              <a:rPr spc="-195" dirty="0"/>
              <a:t> </a:t>
            </a:r>
            <a:r>
              <a:rPr spc="-45" dirty="0"/>
              <a:t>components</a:t>
            </a:r>
          </a:p>
        </p:txBody>
      </p:sp>
      <p:sp>
        <p:nvSpPr>
          <p:cNvPr id="3" name="object 3"/>
          <p:cNvSpPr txBox="1"/>
          <p:nvPr/>
        </p:nvSpPr>
        <p:spPr>
          <a:xfrm>
            <a:off x="1084580" y="1684756"/>
            <a:ext cx="3816350" cy="3191510"/>
          </a:xfrm>
          <a:prstGeom prst="rect">
            <a:avLst/>
          </a:prstGeom>
        </p:spPr>
        <p:txBody>
          <a:bodyPr vert="horz" wrap="square" lIns="0" tIns="160020" rIns="0" bIns="0" rtlCol="0">
            <a:spAutoFit/>
          </a:bodyPr>
          <a:lstStyle/>
          <a:p>
            <a:pPr marL="469900" indent="-457200">
              <a:lnSpc>
                <a:spcPct val="100000"/>
              </a:lnSpc>
              <a:spcBef>
                <a:spcPts val="1260"/>
              </a:spcBef>
              <a:buClr>
                <a:srgbClr val="E38312"/>
              </a:buClr>
              <a:buAutoNum type="arabicPeriod"/>
              <a:tabLst>
                <a:tab pos="469900" algn="l"/>
              </a:tabLst>
            </a:pPr>
            <a:r>
              <a:rPr sz="2000" dirty="0">
                <a:solidFill>
                  <a:srgbClr val="0D0D0D"/>
                </a:solidFill>
                <a:latin typeface="Calibri"/>
                <a:cs typeface="Calibri"/>
              </a:rPr>
              <a:t>ESP32</a:t>
            </a:r>
            <a:r>
              <a:rPr sz="2000" spc="-70" dirty="0">
                <a:solidFill>
                  <a:srgbClr val="0D0D0D"/>
                </a:solidFill>
                <a:latin typeface="Calibri"/>
                <a:cs typeface="Calibri"/>
              </a:rPr>
              <a:t> </a:t>
            </a:r>
            <a:r>
              <a:rPr sz="2000" spc="-20" dirty="0">
                <a:solidFill>
                  <a:srgbClr val="0D0D0D"/>
                </a:solidFill>
                <a:latin typeface="Calibri"/>
                <a:cs typeface="Calibri"/>
              </a:rPr>
              <a:t>Micro-</a:t>
            </a:r>
            <a:r>
              <a:rPr sz="2000" dirty="0">
                <a:solidFill>
                  <a:srgbClr val="0D0D0D"/>
                </a:solidFill>
                <a:latin typeface="Calibri"/>
                <a:cs typeface="Calibri"/>
              </a:rPr>
              <a:t>Controller</a:t>
            </a:r>
            <a:r>
              <a:rPr sz="2000" spc="-45" dirty="0">
                <a:solidFill>
                  <a:srgbClr val="0D0D0D"/>
                </a:solidFill>
                <a:latin typeface="Calibri"/>
                <a:cs typeface="Calibri"/>
              </a:rPr>
              <a:t> </a:t>
            </a:r>
            <a:r>
              <a:rPr sz="2000" dirty="0">
                <a:solidFill>
                  <a:srgbClr val="0D0D0D"/>
                </a:solidFill>
                <a:latin typeface="Calibri"/>
                <a:cs typeface="Calibri"/>
              </a:rPr>
              <a:t>–</a:t>
            </a:r>
            <a:r>
              <a:rPr sz="2000" spc="-50" dirty="0">
                <a:solidFill>
                  <a:srgbClr val="0D0D0D"/>
                </a:solidFill>
                <a:latin typeface="Calibri"/>
                <a:cs typeface="Calibri"/>
              </a:rPr>
              <a:t> </a:t>
            </a:r>
            <a:r>
              <a:rPr sz="2000" spc="-10" dirty="0">
                <a:solidFill>
                  <a:srgbClr val="0D0D0D"/>
                </a:solidFill>
                <a:latin typeface="Calibri"/>
                <a:cs typeface="Calibri"/>
              </a:rPr>
              <a:t>Rs.600</a:t>
            </a:r>
            <a:endParaRPr sz="2000">
              <a:latin typeface="Calibri"/>
              <a:cs typeface="Calibri"/>
            </a:endParaRPr>
          </a:p>
          <a:p>
            <a:pPr marL="469900" indent="-457200">
              <a:lnSpc>
                <a:spcPct val="100000"/>
              </a:lnSpc>
              <a:spcBef>
                <a:spcPts val="1165"/>
              </a:spcBef>
              <a:buClr>
                <a:srgbClr val="E38312"/>
              </a:buClr>
              <a:buAutoNum type="arabicPeriod"/>
              <a:tabLst>
                <a:tab pos="469900" algn="l"/>
              </a:tabLst>
            </a:pPr>
            <a:r>
              <a:rPr sz="2000" dirty="0">
                <a:solidFill>
                  <a:srgbClr val="0D0D0D"/>
                </a:solidFill>
                <a:latin typeface="Calibri"/>
                <a:cs typeface="Calibri"/>
              </a:rPr>
              <a:t>Relay</a:t>
            </a:r>
            <a:r>
              <a:rPr sz="2000" spc="-65" dirty="0">
                <a:solidFill>
                  <a:srgbClr val="0D0D0D"/>
                </a:solidFill>
                <a:latin typeface="Calibri"/>
                <a:cs typeface="Calibri"/>
              </a:rPr>
              <a:t> </a:t>
            </a:r>
            <a:r>
              <a:rPr sz="2000" dirty="0">
                <a:solidFill>
                  <a:srgbClr val="0D0D0D"/>
                </a:solidFill>
                <a:latin typeface="Calibri"/>
                <a:cs typeface="Calibri"/>
              </a:rPr>
              <a:t>driver</a:t>
            </a:r>
            <a:r>
              <a:rPr sz="2000" spc="-60" dirty="0">
                <a:solidFill>
                  <a:srgbClr val="0D0D0D"/>
                </a:solidFill>
                <a:latin typeface="Calibri"/>
                <a:cs typeface="Calibri"/>
              </a:rPr>
              <a:t> </a:t>
            </a:r>
            <a:r>
              <a:rPr sz="2000" dirty="0">
                <a:solidFill>
                  <a:srgbClr val="0D0D0D"/>
                </a:solidFill>
                <a:latin typeface="Calibri"/>
                <a:cs typeface="Calibri"/>
              </a:rPr>
              <a:t>–</a:t>
            </a:r>
            <a:r>
              <a:rPr sz="2000" spc="-65" dirty="0">
                <a:solidFill>
                  <a:srgbClr val="0D0D0D"/>
                </a:solidFill>
                <a:latin typeface="Calibri"/>
                <a:cs typeface="Calibri"/>
              </a:rPr>
              <a:t> </a:t>
            </a:r>
            <a:r>
              <a:rPr sz="2000" spc="-10" dirty="0">
                <a:solidFill>
                  <a:srgbClr val="0D0D0D"/>
                </a:solidFill>
                <a:latin typeface="Calibri"/>
                <a:cs typeface="Calibri"/>
              </a:rPr>
              <a:t>Rs.80</a:t>
            </a:r>
            <a:endParaRPr sz="2000">
              <a:latin typeface="Calibri"/>
              <a:cs typeface="Calibri"/>
            </a:endParaRPr>
          </a:p>
          <a:p>
            <a:pPr marL="469900" indent="-457200">
              <a:lnSpc>
                <a:spcPct val="100000"/>
              </a:lnSpc>
              <a:spcBef>
                <a:spcPts val="1155"/>
              </a:spcBef>
              <a:buClr>
                <a:srgbClr val="E38312"/>
              </a:buClr>
              <a:buAutoNum type="arabicPeriod"/>
              <a:tabLst>
                <a:tab pos="469900" algn="l"/>
              </a:tabLst>
            </a:pPr>
            <a:r>
              <a:rPr sz="2000" dirty="0">
                <a:solidFill>
                  <a:srgbClr val="0D0D0D"/>
                </a:solidFill>
                <a:latin typeface="Calibri"/>
                <a:cs typeface="Calibri"/>
              </a:rPr>
              <a:t>L289N</a:t>
            </a:r>
            <a:r>
              <a:rPr sz="2000" spc="-60" dirty="0">
                <a:solidFill>
                  <a:srgbClr val="0D0D0D"/>
                </a:solidFill>
                <a:latin typeface="Calibri"/>
                <a:cs typeface="Calibri"/>
              </a:rPr>
              <a:t> </a:t>
            </a:r>
            <a:r>
              <a:rPr sz="2000" dirty="0">
                <a:solidFill>
                  <a:srgbClr val="0D0D0D"/>
                </a:solidFill>
                <a:latin typeface="Calibri"/>
                <a:cs typeface="Calibri"/>
              </a:rPr>
              <a:t>Motor</a:t>
            </a:r>
            <a:r>
              <a:rPr sz="2000" spc="-40" dirty="0">
                <a:solidFill>
                  <a:srgbClr val="0D0D0D"/>
                </a:solidFill>
                <a:latin typeface="Calibri"/>
                <a:cs typeface="Calibri"/>
              </a:rPr>
              <a:t> </a:t>
            </a:r>
            <a:r>
              <a:rPr sz="2000" dirty="0">
                <a:solidFill>
                  <a:srgbClr val="0D0D0D"/>
                </a:solidFill>
                <a:latin typeface="Calibri"/>
                <a:cs typeface="Calibri"/>
              </a:rPr>
              <a:t>driver-</a:t>
            </a:r>
            <a:r>
              <a:rPr sz="2000" spc="-20" dirty="0">
                <a:solidFill>
                  <a:srgbClr val="0D0D0D"/>
                </a:solidFill>
                <a:latin typeface="Calibri"/>
                <a:cs typeface="Calibri"/>
              </a:rPr>
              <a:t> </a:t>
            </a:r>
            <a:r>
              <a:rPr sz="2000" spc="-10" dirty="0">
                <a:solidFill>
                  <a:srgbClr val="0D0D0D"/>
                </a:solidFill>
                <a:latin typeface="Calibri"/>
                <a:cs typeface="Calibri"/>
              </a:rPr>
              <a:t>Rs.150</a:t>
            </a:r>
            <a:endParaRPr sz="2000">
              <a:latin typeface="Calibri"/>
              <a:cs typeface="Calibri"/>
            </a:endParaRPr>
          </a:p>
          <a:p>
            <a:pPr marL="469900" indent="-457200">
              <a:lnSpc>
                <a:spcPct val="100000"/>
              </a:lnSpc>
              <a:spcBef>
                <a:spcPts val="1165"/>
              </a:spcBef>
              <a:buClr>
                <a:srgbClr val="E38312"/>
              </a:buClr>
              <a:buAutoNum type="arabicPeriod"/>
              <a:tabLst>
                <a:tab pos="469900" algn="l"/>
              </a:tabLst>
            </a:pPr>
            <a:r>
              <a:rPr sz="2000" dirty="0">
                <a:solidFill>
                  <a:srgbClr val="0D0D0D"/>
                </a:solidFill>
                <a:latin typeface="Calibri"/>
                <a:cs typeface="Calibri"/>
              </a:rPr>
              <a:t>LED</a:t>
            </a:r>
            <a:r>
              <a:rPr sz="2000" spc="-40" dirty="0">
                <a:solidFill>
                  <a:srgbClr val="0D0D0D"/>
                </a:solidFill>
                <a:latin typeface="Calibri"/>
                <a:cs typeface="Calibri"/>
              </a:rPr>
              <a:t> </a:t>
            </a:r>
            <a:r>
              <a:rPr sz="2000" dirty="0">
                <a:solidFill>
                  <a:srgbClr val="0D0D0D"/>
                </a:solidFill>
                <a:latin typeface="Calibri"/>
                <a:cs typeface="Calibri"/>
              </a:rPr>
              <a:t>Bulb-</a:t>
            </a:r>
            <a:r>
              <a:rPr sz="2000" spc="-30" dirty="0">
                <a:solidFill>
                  <a:srgbClr val="0D0D0D"/>
                </a:solidFill>
                <a:latin typeface="Calibri"/>
                <a:cs typeface="Calibri"/>
              </a:rPr>
              <a:t> </a:t>
            </a:r>
            <a:r>
              <a:rPr sz="2000" spc="-10" dirty="0">
                <a:solidFill>
                  <a:srgbClr val="0D0D0D"/>
                </a:solidFill>
                <a:latin typeface="Calibri"/>
                <a:cs typeface="Calibri"/>
              </a:rPr>
              <a:t>Rs.40</a:t>
            </a:r>
            <a:endParaRPr sz="2000">
              <a:latin typeface="Calibri"/>
              <a:cs typeface="Calibri"/>
            </a:endParaRPr>
          </a:p>
          <a:p>
            <a:pPr marL="469900" indent="-457200">
              <a:lnSpc>
                <a:spcPct val="100000"/>
              </a:lnSpc>
              <a:spcBef>
                <a:spcPts val="1165"/>
              </a:spcBef>
              <a:buClr>
                <a:srgbClr val="E38312"/>
              </a:buClr>
              <a:buAutoNum type="arabicPeriod"/>
              <a:tabLst>
                <a:tab pos="469900" algn="l"/>
              </a:tabLst>
            </a:pPr>
            <a:r>
              <a:rPr sz="2000" dirty="0">
                <a:solidFill>
                  <a:srgbClr val="0D0D0D"/>
                </a:solidFill>
                <a:latin typeface="Calibri"/>
                <a:cs typeface="Calibri"/>
              </a:rPr>
              <a:t>Fan-</a:t>
            </a:r>
            <a:r>
              <a:rPr sz="2000" spc="-70" dirty="0">
                <a:solidFill>
                  <a:srgbClr val="0D0D0D"/>
                </a:solidFill>
                <a:latin typeface="Calibri"/>
                <a:cs typeface="Calibri"/>
              </a:rPr>
              <a:t> </a:t>
            </a:r>
            <a:r>
              <a:rPr sz="2000" spc="-10" dirty="0">
                <a:solidFill>
                  <a:srgbClr val="0D0D0D"/>
                </a:solidFill>
                <a:latin typeface="Calibri"/>
                <a:cs typeface="Calibri"/>
              </a:rPr>
              <a:t>Rs.190</a:t>
            </a:r>
            <a:endParaRPr sz="2000">
              <a:latin typeface="Calibri"/>
              <a:cs typeface="Calibri"/>
            </a:endParaRPr>
          </a:p>
          <a:p>
            <a:pPr marL="469900" indent="-457200">
              <a:lnSpc>
                <a:spcPct val="100000"/>
              </a:lnSpc>
              <a:spcBef>
                <a:spcPts val="1150"/>
              </a:spcBef>
              <a:buClr>
                <a:srgbClr val="E38312"/>
              </a:buClr>
              <a:buAutoNum type="arabicPeriod"/>
              <a:tabLst>
                <a:tab pos="469900" algn="l"/>
              </a:tabLst>
            </a:pPr>
            <a:r>
              <a:rPr sz="2000" dirty="0">
                <a:solidFill>
                  <a:srgbClr val="0D0D0D"/>
                </a:solidFill>
                <a:latin typeface="Calibri"/>
                <a:cs typeface="Calibri"/>
              </a:rPr>
              <a:t>9</a:t>
            </a:r>
            <a:r>
              <a:rPr sz="2000" spc="-70" dirty="0">
                <a:solidFill>
                  <a:srgbClr val="0D0D0D"/>
                </a:solidFill>
                <a:latin typeface="Calibri"/>
                <a:cs typeface="Calibri"/>
              </a:rPr>
              <a:t> </a:t>
            </a:r>
            <a:r>
              <a:rPr sz="2000" dirty="0">
                <a:solidFill>
                  <a:srgbClr val="0D0D0D"/>
                </a:solidFill>
                <a:latin typeface="Calibri"/>
                <a:cs typeface="Calibri"/>
              </a:rPr>
              <a:t>Volt</a:t>
            </a:r>
            <a:r>
              <a:rPr sz="2000" spc="-65" dirty="0">
                <a:solidFill>
                  <a:srgbClr val="0D0D0D"/>
                </a:solidFill>
                <a:latin typeface="Calibri"/>
                <a:cs typeface="Calibri"/>
              </a:rPr>
              <a:t> </a:t>
            </a:r>
            <a:r>
              <a:rPr sz="2000" dirty="0">
                <a:solidFill>
                  <a:srgbClr val="0D0D0D"/>
                </a:solidFill>
                <a:latin typeface="Calibri"/>
                <a:cs typeface="Calibri"/>
              </a:rPr>
              <a:t>Battery-</a:t>
            </a:r>
            <a:r>
              <a:rPr sz="2000" spc="-65" dirty="0">
                <a:solidFill>
                  <a:srgbClr val="0D0D0D"/>
                </a:solidFill>
                <a:latin typeface="Calibri"/>
                <a:cs typeface="Calibri"/>
              </a:rPr>
              <a:t> </a:t>
            </a:r>
            <a:r>
              <a:rPr sz="2000" spc="-10" dirty="0">
                <a:solidFill>
                  <a:srgbClr val="0D0D0D"/>
                </a:solidFill>
                <a:latin typeface="Calibri"/>
                <a:cs typeface="Calibri"/>
              </a:rPr>
              <a:t>Rs.30</a:t>
            </a:r>
            <a:endParaRPr sz="2000">
              <a:latin typeface="Calibri"/>
              <a:cs typeface="Calibri"/>
            </a:endParaRPr>
          </a:p>
          <a:p>
            <a:pPr marL="12700">
              <a:lnSpc>
                <a:spcPct val="100000"/>
              </a:lnSpc>
              <a:spcBef>
                <a:spcPts val="1165"/>
              </a:spcBef>
            </a:pPr>
            <a:r>
              <a:rPr sz="2000" spc="-45" dirty="0">
                <a:solidFill>
                  <a:srgbClr val="404040"/>
                </a:solidFill>
                <a:latin typeface="Calibri"/>
                <a:cs typeface="Calibri"/>
              </a:rPr>
              <a:t>TOTAL</a:t>
            </a:r>
            <a:r>
              <a:rPr sz="2000" spc="-35" dirty="0">
                <a:solidFill>
                  <a:srgbClr val="404040"/>
                </a:solidFill>
                <a:latin typeface="Calibri"/>
                <a:cs typeface="Calibri"/>
              </a:rPr>
              <a:t> </a:t>
            </a:r>
            <a:r>
              <a:rPr sz="2000" dirty="0">
                <a:solidFill>
                  <a:srgbClr val="404040"/>
                </a:solidFill>
                <a:latin typeface="Calibri"/>
                <a:cs typeface="Calibri"/>
              </a:rPr>
              <a:t>COST</a:t>
            </a:r>
            <a:r>
              <a:rPr sz="2000" spc="365" dirty="0">
                <a:solidFill>
                  <a:srgbClr val="404040"/>
                </a:solidFill>
                <a:latin typeface="Calibri"/>
                <a:cs typeface="Calibri"/>
              </a:rPr>
              <a:t> </a:t>
            </a:r>
            <a:r>
              <a:rPr sz="2000" dirty="0">
                <a:solidFill>
                  <a:srgbClr val="404040"/>
                </a:solidFill>
                <a:latin typeface="Calibri"/>
                <a:cs typeface="Calibri"/>
              </a:rPr>
              <a:t>-</a:t>
            </a:r>
            <a:r>
              <a:rPr sz="2000" spc="-35" dirty="0">
                <a:solidFill>
                  <a:srgbClr val="404040"/>
                </a:solidFill>
                <a:latin typeface="Calibri"/>
                <a:cs typeface="Calibri"/>
              </a:rPr>
              <a:t> </a:t>
            </a:r>
            <a:r>
              <a:rPr sz="2000" spc="-10" dirty="0">
                <a:solidFill>
                  <a:srgbClr val="404040"/>
                </a:solidFill>
                <a:latin typeface="Calibri"/>
                <a:cs typeface="Calibri"/>
              </a:rPr>
              <a:t>Rs.1090</a:t>
            </a:r>
            <a:endParaRPr sz="2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TotalTime>
  <Words>722</Words>
  <Application>Microsoft Office PowerPoint</Application>
  <PresentationFormat>Widescreen</PresentationFormat>
  <Paragraphs>59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MT</vt:lpstr>
      <vt:lpstr>Calibri</vt:lpstr>
      <vt:lpstr>Calibri Light</vt:lpstr>
      <vt:lpstr>Office Theme</vt:lpstr>
      <vt:lpstr>PowerPoint Presentation</vt:lpstr>
      <vt:lpstr>PowerPoint Presentation</vt:lpstr>
      <vt:lpstr>Contents</vt:lpstr>
      <vt:lpstr>Problem Statement</vt:lpstr>
      <vt:lpstr>Motivation</vt:lpstr>
      <vt:lpstr>Introduction</vt:lpstr>
      <vt:lpstr>Objectives</vt:lpstr>
      <vt:lpstr>Components Used</vt:lpstr>
      <vt:lpstr>Circuit design</vt:lpstr>
      <vt:lpstr>Working</vt:lpstr>
      <vt:lpstr>Result</vt:lpstr>
      <vt:lpstr>Conclusion</vt:lpstr>
      <vt:lpstr>References</vt:lpstr>
      <vt:lpstr>PowerPoint Presentation</vt:lpstr>
      <vt:lpstr>Cost for components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Aarya D</dc:creator>
  <cp:lastModifiedBy>Sumedha Huilgol</cp:lastModifiedBy>
  <cp:revision>3</cp:revision>
  <dcterms:created xsi:type="dcterms:W3CDTF">2024-12-13T16:58:38Z</dcterms:created>
  <dcterms:modified xsi:type="dcterms:W3CDTF">2025-01-06T17:07:29Z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2024-10-27T00:00:00Z</vt:filetime>
  </property>
  <property fmtid="{D5CDD505-2E9C-101B-9397-08002B2CF9AE}" pid="3" name="Creator">
    <vt:lpwstr>Microsoft® PowerPoint® 2021</vt:lpwstr>
  </property>
  <property fmtid="{D5CDD505-2E9C-101B-9397-08002B2CF9AE}" pid="4" name="LastSaved">
    <vt:filetime>2024-12-13T00:00:00Z</vt:filetime>
  </property>
  <property fmtid="{D5CDD505-2E9C-101B-9397-08002B2CF9AE}" pid="5" name="Producer">
    <vt:lpwstr>Microsoft® PowerPoint® 2021</vt:lpwstr>
  </property>
</Properties>
</file>